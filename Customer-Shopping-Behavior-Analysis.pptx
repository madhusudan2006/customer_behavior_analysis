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6470650"/>
  <p:notesSz cx="11430000" cy="64706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7375" y="2387600"/>
            <a:ext cx="451612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5C4E3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87375" y="3422015"/>
            <a:ext cx="5238750" cy="835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5C4E3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5C4E3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5C4E3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D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6675" y="388516"/>
            <a:ext cx="7364594" cy="10243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5C4E3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87375" y="2120900"/>
            <a:ext cx="4447540" cy="10731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z="3350" spc="395">
                <a:solidFill>
                  <a:srgbClr val="5C4E3D"/>
                </a:solidFill>
                <a:latin typeface="Cambria"/>
                <a:cs typeface="Cambria"/>
              </a:rPr>
              <a:t>Customer</a:t>
            </a:r>
            <a:r>
              <a:rPr dirty="0" sz="3350" spc="175">
                <a:solidFill>
                  <a:srgbClr val="5C4E3D"/>
                </a:solidFill>
                <a:latin typeface="Cambria"/>
                <a:cs typeface="Cambria"/>
              </a:rPr>
              <a:t> </a:t>
            </a:r>
            <a:r>
              <a:rPr dirty="0" sz="3350" spc="390">
                <a:solidFill>
                  <a:srgbClr val="5C4E3D"/>
                </a:solidFill>
                <a:latin typeface="Cambria"/>
                <a:cs typeface="Cambria"/>
              </a:rPr>
              <a:t>Shopping </a:t>
            </a:r>
            <a:r>
              <a:rPr dirty="0" sz="3350" spc="330">
                <a:solidFill>
                  <a:srgbClr val="5C4E3D"/>
                </a:solidFill>
                <a:latin typeface="Cambria"/>
                <a:cs typeface="Cambria"/>
              </a:rPr>
              <a:t>Behavior</a:t>
            </a:r>
            <a:r>
              <a:rPr dirty="0" sz="3350" spc="5">
                <a:solidFill>
                  <a:srgbClr val="5C4E3D"/>
                </a:solidFill>
                <a:latin typeface="Cambria"/>
                <a:cs typeface="Cambria"/>
              </a:rPr>
              <a:t> </a:t>
            </a:r>
            <a:r>
              <a:rPr dirty="0" sz="3350" spc="250">
                <a:solidFill>
                  <a:srgbClr val="5C4E3D"/>
                </a:solidFill>
                <a:latin typeface="Cambria"/>
                <a:cs typeface="Cambria"/>
              </a:rPr>
              <a:t>Analysis</a:t>
            </a:r>
            <a:endParaRPr sz="335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60"/>
              </a:spcBef>
            </a:pP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Uncovering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 spending</a:t>
            </a:r>
            <a:r>
              <a:rPr dirty="0" sz="1350" spc="-3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patterns,</a:t>
            </a:r>
            <a:r>
              <a:rPr dirty="0" sz="1350" spc="-3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customer</a:t>
            </a:r>
            <a:r>
              <a:rPr dirty="0" sz="1350" spc="-3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segments,</a:t>
            </a:r>
            <a:r>
              <a:rPr dirty="0" sz="1350" spc="-3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and</a:t>
            </a:r>
            <a:r>
              <a:rPr dirty="0" sz="1350" spc="-3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product </a:t>
            </a:r>
            <a:r>
              <a:rPr dirty="0" sz="1350" spc="-20">
                <a:solidFill>
                  <a:srgbClr val="44413F"/>
                </a:solidFill>
                <a:latin typeface="Lucida Sans Unicode"/>
                <a:cs typeface="Lucida Sans Unicode"/>
              </a:rPr>
              <a:t>preferences</a:t>
            </a: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44413F"/>
                </a:solidFill>
                <a:latin typeface="Lucida Sans Unicode"/>
                <a:cs typeface="Lucida Sans Unicode"/>
              </a:rPr>
              <a:t>from</a:t>
            </a: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100" b="1">
                <a:solidFill>
                  <a:srgbClr val="44413F"/>
                </a:solidFill>
                <a:latin typeface="Arial"/>
                <a:cs typeface="Arial"/>
              </a:rPr>
              <a:t>3,900</a:t>
            </a:r>
            <a:r>
              <a:rPr dirty="0" sz="1350" spc="5" b="1">
                <a:solidFill>
                  <a:srgbClr val="44413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44413F"/>
                </a:solidFill>
                <a:latin typeface="Arial"/>
                <a:cs typeface="Arial"/>
              </a:rPr>
              <a:t>transactions</a:t>
            </a:r>
            <a:r>
              <a:rPr dirty="0" sz="1350" spc="50" b="1">
                <a:solidFill>
                  <a:srgbClr val="44413F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to 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guide</a:t>
            </a: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strategic</a:t>
            </a:r>
            <a:r>
              <a:rPr dirty="0" sz="1350" spc="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business decisions.</a:t>
            </a:r>
            <a:endParaRPr sz="13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454150"/>
            <a:ext cx="41624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60"/>
              <a:t>Dataset</a:t>
            </a:r>
            <a:r>
              <a:rPr dirty="0" spc="240"/>
              <a:t> </a:t>
            </a:r>
            <a:r>
              <a:rPr dirty="0" spc="180"/>
              <a:t>at</a:t>
            </a:r>
            <a:r>
              <a:rPr dirty="0" spc="245"/>
              <a:t> </a:t>
            </a:r>
            <a:r>
              <a:rPr dirty="0" spc="225"/>
              <a:t>a</a:t>
            </a:r>
            <a:r>
              <a:rPr dirty="0" spc="195"/>
              <a:t> </a:t>
            </a:r>
            <a:r>
              <a:rPr dirty="0" spc="370"/>
              <a:t>Glance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83601" y="2336164"/>
            <a:ext cx="1700530" cy="1148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50" spc="459">
                <a:solidFill>
                  <a:srgbClr val="44413F"/>
                </a:solidFill>
                <a:latin typeface="Cambria"/>
                <a:cs typeface="Cambria"/>
              </a:rPr>
              <a:t>3,900</a:t>
            </a:r>
            <a:endParaRPr sz="44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10"/>
              </a:spcBef>
            </a:pPr>
            <a:r>
              <a:rPr dirty="0" sz="1650" spc="135">
                <a:solidFill>
                  <a:srgbClr val="44413F"/>
                </a:solidFill>
                <a:latin typeface="Cambria"/>
                <a:cs typeface="Cambria"/>
              </a:rPr>
              <a:t>Purchases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202085" y="2336164"/>
            <a:ext cx="1026160" cy="1148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50" spc="-25">
                <a:solidFill>
                  <a:srgbClr val="44413F"/>
                </a:solidFill>
                <a:latin typeface="Cambria"/>
                <a:cs typeface="Cambria"/>
              </a:rPr>
              <a:t>18</a:t>
            </a:r>
            <a:endParaRPr sz="44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10"/>
              </a:spcBef>
            </a:pPr>
            <a:r>
              <a:rPr dirty="0" sz="1650" spc="225">
                <a:solidFill>
                  <a:srgbClr val="44413F"/>
                </a:solidFill>
                <a:latin typeface="Cambria"/>
                <a:cs typeface="Cambria"/>
              </a:rPr>
              <a:t>Columns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321382" y="2336164"/>
            <a:ext cx="1750060" cy="1148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50" spc="-25">
                <a:solidFill>
                  <a:srgbClr val="44413F"/>
                </a:solidFill>
                <a:latin typeface="Cambria"/>
                <a:cs typeface="Cambria"/>
              </a:rPr>
              <a:t>37</a:t>
            </a:r>
            <a:endParaRPr sz="44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10"/>
              </a:spcBef>
            </a:pPr>
            <a:r>
              <a:rPr dirty="0" sz="1650" spc="175">
                <a:solidFill>
                  <a:srgbClr val="44413F"/>
                </a:solidFill>
                <a:latin typeface="Cambria"/>
                <a:cs typeface="Cambria"/>
              </a:rPr>
              <a:t>Missing</a:t>
            </a:r>
            <a:r>
              <a:rPr dirty="0" sz="1650" spc="12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45">
                <a:solidFill>
                  <a:srgbClr val="44413F"/>
                </a:solidFill>
                <a:latin typeface="Cambria"/>
                <a:cs typeface="Cambria"/>
              </a:rPr>
              <a:t>Ratings</a:t>
            </a:r>
            <a:endParaRPr sz="1650">
              <a:latin typeface="Cambria"/>
              <a:cs typeface="Cambri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600075" y="3686175"/>
            <a:ext cx="3295650" cy="1276350"/>
            <a:chOff x="600075" y="3686175"/>
            <a:chExt cx="3295650" cy="1276350"/>
          </a:xfrm>
        </p:grpSpPr>
        <p:sp>
          <p:nvSpPr>
            <p:cNvPr id="7" name="object 7" descr=""/>
            <p:cNvSpPr/>
            <p:nvPr/>
          </p:nvSpPr>
          <p:spPr>
            <a:xfrm>
              <a:off x="604837" y="3690937"/>
              <a:ext cx="3286125" cy="1266825"/>
            </a:xfrm>
            <a:custGeom>
              <a:avLst/>
              <a:gdLst/>
              <a:ahLst/>
              <a:cxnLst/>
              <a:rect l="l" t="t" r="r" b="b"/>
              <a:pathLst>
                <a:path w="3286125" h="1266825">
                  <a:moveTo>
                    <a:pt x="323451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1211580"/>
                  </a:lnTo>
                  <a:lnTo>
                    <a:pt x="0" y="1215212"/>
                  </a:lnTo>
                  <a:lnTo>
                    <a:pt x="18747" y="1253210"/>
                  </a:lnTo>
                  <a:lnTo>
                    <a:pt x="51619" y="1266825"/>
                  </a:lnTo>
                  <a:lnTo>
                    <a:pt x="3234512" y="1266825"/>
                  </a:lnTo>
                  <a:lnTo>
                    <a:pt x="3272510" y="1248079"/>
                  </a:lnTo>
                  <a:lnTo>
                    <a:pt x="3286125" y="1215212"/>
                  </a:lnTo>
                  <a:lnTo>
                    <a:pt x="3286125" y="51612"/>
                  </a:lnTo>
                  <a:lnTo>
                    <a:pt x="3267379" y="13614"/>
                  </a:lnTo>
                  <a:lnTo>
                    <a:pt x="3238093" y="355"/>
                  </a:lnTo>
                  <a:lnTo>
                    <a:pt x="3234512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04837" y="3690937"/>
              <a:ext cx="3286125" cy="1266825"/>
            </a:xfrm>
            <a:custGeom>
              <a:avLst/>
              <a:gdLst/>
              <a:ahLst/>
              <a:cxnLst/>
              <a:rect l="l" t="t" r="r" b="b"/>
              <a:pathLst>
                <a:path w="3286125" h="1266825">
                  <a:moveTo>
                    <a:pt x="0" y="12115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30880" y="0"/>
                  </a:lnTo>
                  <a:lnTo>
                    <a:pt x="3234512" y="0"/>
                  </a:lnTo>
                  <a:lnTo>
                    <a:pt x="3238093" y="355"/>
                  </a:lnTo>
                  <a:lnTo>
                    <a:pt x="3241649" y="1066"/>
                  </a:lnTo>
                  <a:lnTo>
                    <a:pt x="3245218" y="1765"/>
                  </a:lnTo>
                  <a:lnTo>
                    <a:pt x="3248672" y="2819"/>
                  </a:lnTo>
                  <a:lnTo>
                    <a:pt x="3252012" y="4203"/>
                  </a:lnTo>
                  <a:lnTo>
                    <a:pt x="3255378" y="5588"/>
                  </a:lnTo>
                  <a:lnTo>
                    <a:pt x="3281921" y="34099"/>
                  </a:lnTo>
                  <a:lnTo>
                    <a:pt x="3285058" y="44462"/>
                  </a:lnTo>
                  <a:lnTo>
                    <a:pt x="3285769" y="48018"/>
                  </a:lnTo>
                  <a:lnTo>
                    <a:pt x="3286125" y="51612"/>
                  </a:lnTo>
                  <a:lnTo>
                    <a:pt x="3286125" y="55245"/>
                  </a:lnTo>
                  <a:lnTo>
                    <a:pt x="3286125" y="1211580"/>
                  </a:lnTo>
                  <a:lnTo>
                    <a:pt x="3286125" y="1215212"/>
                  </a:lnTo>
                  <a:lnTo>
                    <a:pt x="3285769" y="1218793"/>
                  </a:lnTo>
                  <a:lnTo>
                    <a:pt x="3285058" y="1222362"/>
                  </a:lnTo>
                  <a:lnTo>
                    <a:pt x="3284359" y="1225918"/>
                  </a:lnTo>
                  <a:lnTo>
                    <a:pt x="3261575" y="1257515"/>
                  </a:lnTo>
                  <a:lnTo>
                    <a:pt x="3241649" y="1265758"/>
                  </a:lnTo>
                  <a:lnTo>
                    <a:pt x="3238093" y="1266469"/>
                  </a:lnTo>
                  <a:lnTo>
                    <a:pt x="3234512" y="1266825"/>
                  </a:lnTo>
                  <a:lnTo>
                    <a:pt x="3230880" y="1266825"/>
                  </a:lnTo>
                  <a:lnTo>
                    <a:pt x="55245" y="1266825"/>
                  </a:lnTo>
                  <a:lnTo>
                    <a:pt x="51619" y="1266825"/>
                  </a:lnTo>
                  <a:lnTo>
                    <a:pt x="48026" y="1266469"/>
                  </a:lnTo>
                  <a:lnTo>
                    <a:pt x="44465" y="1265758"/>
                  </a:lnTo>
                  <a:lnTo>
                    <a:pt x="40907" y="1265059"/>
                  </a:lnTo>
                  <a:lnTo>
                    <a:pt x="9311" y="1242263"/>
                  </a:lnTo>
                  <a:lnTo>
                    <a:pt x="7292" y="1239253"/>
                  </a:lnTo>
                  <a:lnTo>
                    <a:pt x="5590" y="1236078"/>
                  </a:lnTo>
                  <a:lnTo>
                    <a:pt x="4207" y="1232725"/>
                  </a:lnTo>
                  <a:lnTo>
                    <a:pt x="2818" y="1229372"/>
                  </a:lnTo>
                  <a:lnTo>
                    <a:pt x="1771" y="1225918"/>
                  </a:lnTo>
                  <a:lnTo>
                    <a:pt x="1061" y="1222362"/>
                  </a:lnTo>
                  <a:lnTo>
                    <a:pt x="351" y="1218793"/>
                  </a:lnTo>
                  <a:lnTo>
                    <a:pt x="0" y="1215212"/>
                  </a:lnTo>
                  <a:lnTo>
                    <a:pt x="0" y="1211580"/>
                  </a:lnTo>
                  <a:close/>
                </a:path>
              </a:pathLst>
            </a:custGeom>
            <a:ln w="9525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68350" y="3849687"/>
            <a:ext cx="284035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90">
                <a:solidFill>
                  <a:srgbClr val="44413F"/>
                </a:solidFill>
                <a:latin typeface="Cambria"/>
                <a:cs typeface="Cambria"/>
              </a:rPr>
              <a:t>Demographics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85">
                <a:solidFill>
                  <a:srgbClr val="44413F"/>
                </a:solidFill>
                <a:latin typeface="Lucida Sans Unicode"/>
                <a:cs typeface="Lucida Sans Unicode"/>
              </a:rPr>
              <a:t>Age,</a:t>
            </a:r>
            <a:r>
              <a:rPr dirty="0" sz="1350" spc="-6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Gender,</a:t>
            </a:r>
            <a:r>
              <a:rPr dirty="0" sz="1350" spc="-5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Location,</a:t>
            </a:r>
            <a:r>
              <a:rPr dirty="0" sz="1350" spc="-5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Subscription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067175" y="3686175"/>
            <a:ext cx="3295650" cy="1276350"/>
            <a:chOff x="4067175" y="3686175"/>
            <a:chExt cx="3295650" cy="1276350"/>
          </a:xfrm>
        </p:grpSpPr>
        <p:sp>
          <p:nvSpPr>
            <p:cNvPr id="11" name="object 11" descr=""/>
            <p:cNvSpPr/>
            <p:nvPr/>
          </p:nvSpPr>
          <p:spPr>
            <a:xfrm>
              <a:off x="4071937" y="3690937"/>
              <a:ext cx="3286125" cy="1266825"/>
            </a:xfrm>
            <a:custGeom>
              <a:avLst/>
              <a:gdLst/>
              <a:ahLst/>
              <a:cxnLst/>
              <a:rect l="l" t="t" r="r" b="b"/>
              <a:pathLst>
                <a:path w="3286125" h="1266825">
                  <a:moveTo>
                    <a:pt x="3234512" y="0"/>
                  </a:moveTo>
                  <a:lnTo>
                    <a:pt x="51612" y="0"/>
                  </a:lnTo>
                  <a:lnTo>
                    <a:pt x="48031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211580"/>
                  </a:lnTo>
                  <a:lnTo>
                    <a:pt x="0" y="1215212"/>
                  </a:lnTo>
                  <a:lnTo>
                    <a:pt x="18745" y="1253210"/>
                  </a:lnTo>
                  <a:lnTo>
                    <a:pt x="51612" y="1266825"/>
                  </a:lnTo>
                  <a:lnTo>
                    <a:pt x="3234512" y="1266825"/>
                  </a:lnTo>
                  <a:lnTo>
                    <a:pt x="3272510" y="1248079"/>
                  </a:lnTo>
                  <a:lnTo>
                    <a:pt x="3286125" y="1215212"/>
                  </a:lnTo>
                  <a:lnTo>
                    <a:pt x="3286125" y="51612"/>
                  </a:lnTo>
                  <a:lnTo>
                    <a:pt x="3267379" y="13614"/>
                  </a:lnTo>
                  <a:lnTo>
                    <a:pt x="3238093" y="355"/>
                  </a:lnTo>
                  <a:lnTo>
                    <a:pt x="3234512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071937" y="3690937"/>
              <a:ext cx="3286125" cy="1266825"/>
            </a:xfrm>
            <a:custGeom>
              <a:avLst/>
              <a:gdLst/>
              <a:ahLst/>
              <a:cxnLst/>
              <a:rect l="l" t="t" r="r" b="b"/>
              <a:pathLst>
                <a:path w="3286125" h="1266825">
                  <a:moveTo>
                    <a:pt x="0" y="12115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31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30880" y="0"/>
                  </a:lnTo>
                  <a:lnTo>
                    <a:pt x="3234512" y="0"/>
                  </a:lnTo>
                  <a:lnTo>
                    <a:pt x="3238093" y="355"/>
                  </a:lnTo>
                  <a:lnTo>
                    <a:pt x="3241649" y="1066"/>
                  </a:lnTo>
                  <a:lnTo>
                    <a:pt x="3245218" y="1765"/>
                  </a:lnTo>
                  <a:lnTo>
                    <a:pt x="3248672" y="2819"/>
                  </a:lnTo>
                  <a:lnTo>
                    <a:pt x="3252012" y="4203"/>
                  </a:lnTo>
                  <a:lnTo>
                    <a:pt x="3255378" y="5588"/>
                  </a:lnTo>
                  <a:lnTo>
                    <a:pt x="3269945" y="16179"/>
                  </a:lnTo>
                  <a:lnTo>
                    <a:pt x="3272510" y="18745"/>
                  </a:lnTo>
                  <a:lnTo>
                    <a:pt x="3285058" y="44462"/>
                  </a:lnTo>
                  <a:lnTo>
                    <a:pt x="3285769" y="48018"/>
                  </a:lnTo>
                  <a:lnTo>
                    <a:pt x="3286125" y="51612"/>
                  </a:lnTo>
                  <a:lnTo>
                    <a:pt x="3286125" y="55245"/>
                  </a:lnTo>
                  <a:lnTo>
                    <a:pt x="3286125" y="1211580"/>
                  </a:lnTo>
                  <a:lnTo>
                    <a:pt x="3286125" y="1215212"/>
                  </a:lnTo>
                  <a:lnTo>
                    <a:pt x="3285769" y="1218793"/>
                  </a:lnTo>
                  <a:lnTo>
                    <a:pt x="3285058" y="1222362"/>
                  </a:lnTo>
                  <a:lnTo>
                    <a:pt x="3284359" y="1225918"/>
                  </a:lnTo>
                  <a:lnTo>
                    <a:pt x="3269945" y="1250645"/>
                  </a:lnTo>
                  <a:lnTo>
                    <a:pt x="3267379" y="1253210"/>
                  </a:lnTo>
                  <a:lnTo>
                    <a:pt x="3241649" y="1265758"/>
                  </a:lnTo>
                  <a:lnTo>
                    <a:pt x="3238093" y="1266469"/>
                  </a:lnTo>
                  <a:lnTo>
                    <a:pt x="3234512" y="1266825"/>
                  </a:lnTo>
                  <a:lnTo>
                    <a:pt x="3230880" y="1266825"/>
                  </a:lnTo>
                  <a:lnTo>
                    <a:pt x="55245" y="1266825"/>
                  </a:lnTo>
                  <a:lnTo>
                    <a:pt x="51612" y="1266825"/>
                  </a:lnTo>
                  <a:lnTo>
                    <a:pt x="48031" y="1266469"/>
                  </a:lnTo>
                  <a:lnTo>
                    <a:pt x="44462" y="1265758"/>
                  </a:lnTo>
                  <a:lnTo>
                    <a:pt x="40906" y="1265059"/>
                  </a:lnTo>
                  <a:lnTo>
                    <a:pt x="9309" y="1242263"/>
                  </a:lnTo>
                  <a:lnTo>
                    <a:pt x="7289" y="1239253"/>
                  </a:lnTo>
                  <a:lnTo>
                    <a:pt x="1066" y="1222362"/>
                  </a:lnTo>
                  <a:lnTo>
                    <a:pt x="355" y="1218793"/>
                  </a:lnTo>
                  <a:lnTo>
                    <a:pt x="0" y="1215212"/>
                  </a:lnTo>
                  <a:lnTo>
                    <a:pt x="0" y="1211580"/>
                  </a:lnTo>
                  <a:close/>
                </a:path>
              </a:pathLst>
            </a:custGeom>
            <a:ln w="9525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235450" y="3849687"/>
            <a:ext cx="293941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55">
                <a:solidFill>
                  <a:srgbClr val="44413F"/>
                </a:solidFill>
                <a:latin typeface="Cambria"/>
                <a:cs typeface="Cambria"/>
              </a:rPr>
              <a:t>Purchase</a:t>
            </a:r>
            <a:r>
              <a:rPr dirty="0" sz="1650" spc="14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35">
                <a:solidFill>
                  <a:srgbClr val="44413F"/>
                </a:solidFill>
                <a:latin typeface="Cambria"/>
                <a:cs typeface="Cambria"/>
              </a:rPr>
              <a:t>Details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70">
                <a:solidFill>
                  <a:srgbClr val="44413F"/>
                </a:solidFill>
                <a:latin typeface="Lucida Sans Unicode"/>
                <a:cs typeface="Lucida Sans Unicode"/>
              </a:rPr>
              <a:t>Item,</a:t>
            </a:r>
            <a:r>
              <a:rPr dirty="0" sz="1350" spc="-50">
                <a:solidFill>
                  <a:srgbClr val="44413F"/>
                </a:solidFill>
                <a:latin typeface="Lucida Sans Unicode"/>
                <a:cs typeface="Lucida Sans Unicode"/>
              </a:rPr>
              <a:t> Category,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44413F"/>
                </a:solidFill>
                <a:latin typeface="Lucida Sans Unicode"/>
                <a:cs typeface="Lucida Sans Unicode"/>
              </a:rPr>
              <a:t>Amount,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Season,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44413F"/>
                </a:solidFill>
                <a:latin typeface="Lucida Sans Unicode"/>
                <a:cs typeface="Lucida Sans Unicode"/>
              </a:rPr>
              <a:t>Size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534275" y="3686175"/>
            <a:ext cx="3295650" cy="1276350"/>
            <a:chOff x="7534275" y="3686175"/>
            <a:chExt cx="3295650" cy="1276350"/>
          </a:xfrm>
        </p:grpSpPr>
        <p:sp>
          <p:nvSpPr>
            <p:cNvPr id="15" name="object 15" descr=""/>
            <p:cNvSpPr/>
            <p:nvPr/>
          </p:nvSpPr>
          <p:spPr>
            <a:xfrm>
              <a:off x="7539037" y="3690937"/>
              <a:ext cx="3286125" cy="1266825"/>
            </a:xfrm>
            <a:custGeom>
              <a:avLst/>
              <a:gdLst/>
              <a:ahLst/>
              <a:cxnLst/>
              <a:rect l="l" t="t" r="r" b="b"/>
              <a:pathLst>
                <a:path w="3286125" h="1266825">
                  <a:moveTo>
                    <a:pt x="323451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211580"/>
                  </a:lnTo>
                  <a:lnTo>
                    <a:pt x="0" y="1215212"/>
                  </a:lnTo>
                  <a:lnTo>
                    <a:pt x="18745" y="1253210"/>
                  </a:lnTo>
                  <a:lnTo>
                    <a:pt x="51612" y="1266825"/>
                  </a:lnTo>
                  <a:lnTo>
                    <a:pt x="3234512" y="1266825"/>
                  </a:lnTo>
                  <a:lnTo>
                    <a:pt x="3272510" y="1248079"/>
                  </a:lnTo>
                  <a:lnTo>
                    <a:pt x="3286125" y="1215212"/>
                  </a:lnTo>
                  <a:lnTo>
                    <a:pt x="3286125" y="51612"/>
                  </a:lnTo>
                  <a:lnTo>
                    <a:pt x="3267379" y="13614"/>
                  </a:lnTo>
                  <a:lnTo>
                    <a:pt x="3238093" y="355"/>
                  </a:lnTo>
                  <a:lnTo>
                    <a:pt x="3234512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539037" y="3690937"/>
              <a:ext cx="3286125" cy="1266825"/>
            </a:xfrm>
            <a:custGeom>
              <a:avLst/>
              <a:gdLst/>
              <a:ahLst/>
              <a:cxnLst/>
              <a:rect l="l" t="t" r="r" b="b"/>
              <a:pathLst>
                <a:path w="3286125" h="1266825">
                  <a:moveTo>
                    <a:pt x="0" y="12115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30880" y="0"/>
                  </a:lnTo>
                  <a:lnTo>
                    <a:pt x="3234512" y="0"/>
                  </a:lnTo>
                  <a:lnTo>
                    <a:pt x="3238093" y="355"/>
                  </a:lnTo>
                  <a:lnTo>
                    <a:pt x="3241649" y="1066"/>
                  </a:lnTo>
                  <a:lnTo>
                    <a:pt x="3245218" y="1765"/>
                  </a:lnTo>
                  <a:lnTo>
                    <a:pt x="3248672" y="2819"/>
                  </a:lnTo>
                  <a:lnTo>
                    <a:pt x="3252012" y="4203"/>
                  </a:lnTo>
                  <a:lnTo>
                    <a:pt x="3255378" y="5588"/>
                  </a:lnTo>
                  <a:lnTo>
                    <a:pt x="3258553" y="7289"/>
                  </a:lnTo>
                  <a:lnTo>
                    <a:pt x="3261563" y="9309"/>
                  </a:lnTo>
                  <a:lnTo>
                    <a:pt x="3264585" y="11328"/>
                  </a:lnTo>
                  <a:lnTo>
                    <a:pt x="3267379" y="13614"/>
                  </a:lnTo>
                  <a:lnTo>
                    <a:pt x="3269945" y="16179"/>
                  </a:lnTo>
                  <a:lnTo>
                    <a:pt x="3272510" y="18745"/>
                  </a:lnTo>
                  <a:lnTo>
                    <a:pt x="3285058" y="44462"/>
                  </a:lnTo>
                  <a:lnTo>
                    <a:pt x="3285769" y="48018"/>
                  </a:lnTo>
                  <a:lnTo>
                    <a:pt x="3286125" y="51612"/>
                  </a:lnTo>
                  <a:lnTo>
                    <a:pt x="3286125" y="55245"/>
                  </a:lnTo>
                  <a:lnTo>
                    <a:pt x="3286125" y="1211580"/>
                  </a:lnTo>
                  <a:lnTo>
                    <a:pt x="3286125" y="1215212"/>
                  </a:lnTo>
                  <a:lnTo>
                    <a:pt x="3285769" y="1218793"/>
                  </a:lnTo>
                  <a:lnTo>
                    <a:pt x="3285058" y="1222362"/>
                  </a:lnTo>
                  <a:lnTo>
                    <a:pt x="3284359" y="1225918"/>
                  </a:lnTo>
                  <a:lnTo>
                    <a:pt x="3269945" y="1250645"/>
                  </a:lnTo>
                  <a:lnTo>
                    <a:pt x="3267379" y="1253210"/>
                  </a:lnTo>
                  <a:lnTo>
                    <a:pt x="3241649" y="1265758"/>
                  </a:lnTo>
                  <a:lnTo>
                    <a:pt x="3238093" y="1266469"/>
                  </a:lnTo>
                  <a:lnTo>
                    <a:pt x="3234512" y="1266825"/>
                  </a:lnTo>
                  <a:lnTo>
                    <a:pt x="3230880" y="1266825"/>
                  </a:lnTo>
                  <a:lnTo>
                    <a:pt x="55245" y="1266825"/>
                  </a:lnTo>
                  <a:lnTo>
                    <a:pt x="51612" y="1266825"/>
                  </a:lnTo>
                  <a:lnTo>
                    <a:pt x="48018" y="1266469"/>
                  </a:lnTo>
                  <a:lnTo>
                    <a:pt x="44462" y="1265758"/>
                  </a:lnTo>
                  <a:lnTo>
                    <a:pt x="40906" y="1265059"/>
                  </a:lnTo>
                  <a:lnTo>
                    <a:pt x="16179" y="1250645"/>
                  </a:lnTo>
                  <a:lnTo>
                    <a:pt x="13614" y="1248079"/>
                  </a:lnTo>
                  <a:lnTo>
                    <a:pt x="11328" y="1245285"/>
                  </a:lnTo>
                  <a:lnTo>
                    <a:pt x="9309" y="1242263"/>
                  </a:lnTo>
                  <a:lnTo>
                    <a:pt x="7289" y="1239253"/>
                  </a:lnTo>
                  <a:lnTo>
                    <a:pt x="5588" y="1236078"/>
                  </a:lnTo>
                  <a:lnTo>
                    <a:pt x="4203" y="1232725"/>
                  </a:lnTo>
                  <a:lnTo>
                    <a:pt x="2819" y="1229372"/>
                  </a:lnTo>
                  <a:lnTo>
                    <a:pt x="1765" y="1225918"/>
                  </a:lnTo>
                  <a:lnTo>
                    <a:pt x="1066" y="1222362"/>
                  </a:lnTo>
                  <a:lnTo>
                    <a:pt x="355" y="1218793"/>
                  </a:lnTo>
                  <a:lnTo>
                    <a:pt x="0" y="1215212"/>
                  </a:lnTo>
                  <a:lnTo>
                    <a:pt x="0" y="1211580"/>
                  </a:lnTo>
                  <a:close/>
                </a:path>
              </a:pathLst>
            </a:custGeom>
            <a:ln w="9525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7702550" y="3849687"/>
            <a:ext cx="241808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65">
                <a:solidFill>
                  <a:srgbClr val="44413F"/>
                </a:solidFill>
                <a:latin typeface="Cambria"/>
                <a:cs typeface="Cambria"/>
              </a:rPr>
              <a:t>Behavior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Discounts,</a:t>
            </a:r>
            <a:r>
              <a:rPr dirty="0" sz="1350" spc="-3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Frequency,</a:t>
            </a:r>
            <a:r>
              <a:rPr dirty="0" sz="1350" spc="-3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0">
                <a:solidFill>
                  <a:srgbClr val="44413F"/>
                </a:solidFill>
                <a:latin typeface="Lucida Sans Unicode"/>
                <a:cs typeface="Lucida Sans Unicode"/>
              </a:rPr>
              <a:t>Ratings,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Shipping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18" name="object 18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825990" cy="6436360"/>
          </a:xfrm>
          <a:custGeom>
            <a:avLst/>
            <a:gdLst/>
            <a:ahLst/>
            <a:cxnLst/>
            <a:rect l="l" t="t" r="r" b="b"/>
            <a:pathLst>
              <a:path w="9825990" h="6436360">
                <a:moveTo>
                  <a:pt x="9825708" y="0"/>
                </a:moveTo>
                <a:lnTo>
                  <a:pt x="0" y="0"/>
                </a:lnTo>
                <a:lnTo>
                  <a:pt x="0" y="6435838"/>
                </a:lnTo>
                <a:lnTo>
                  <a:pt x="9825708" y="6435838"/>
                </a:lnTo>
                <a:lnTo>
                  <a:pt x="9825708" y="0"/>
                </a:lnTo>
                <a:close/>
              </a:path>
            </a:pathLst>
          </a:custGeom>
          <a:solidFill>
            <a:srgbClr val="FFFD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7"/>
            <a:ext cx="3684640" cy="64356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3663315" marR="5080">
              <a:lnSpc>
                <a:spcPts val="3610"/>
              </a:lnSpc>
              <a:spcBef>
                <a:spcPts val="70"/>
              </a:spcBef>
            </a:pPr>
            <a:r>
              <a:rPr dirty="0" sz="2900" spc="280"/>
              <a:t>Data</a:t>
            </a:r>
            <a:r>
              <a:rPr dirty="0" sz="2900" spc="185"/>
              <a:t> </a:t>
            </a:r>
            <a:r>
              <a:rPr dirty="0" sz="2900" spc="235"/>
              <a:t>Preparation</a:t>
            </a:r>
            <a:r>
              <a:rPr dirty="0" sz="2900" spc="215"/>
              <a:t> </a:t>
            </a:r>
            <a:r>
              <a:rPr dirty="0" sz="2900" spc="250"/>
              <a:t>in </a:t>
            </a:r>
            <a:r>
              <a:rPr dirty="0" sz="2900" spc="310"/>
              <a:t>Python</a:t>
            </a:r>
            <a:endParaRPr sz="2900"/>
          </a:p>
        </p:txBody>
      </p:sp>
      <p:sp>
        <p:nvSpPr>
          <p:cNvPr id="5" name="object 5" descr=""/>
          <p:cNvSpPr/>
          <p:nvPr/>
        </p:nvSpPr>
        <p:spPr>
          <a:xfrm>
            <a:off x="4200490" y="1785003"/>
            <a:ext cx="5109845" cy="16510"/>
          </a:xfrm>
          <a:custGeom>
            <a:avLst/>
            <a:gdLst/>
            <a:ahLst/>
            <a:cxnLst/>
            <a:rect l="l" t="t" r="r" b="b"/>
            <a:pathLst>
              <a:path w="5109845" h="16510">
                <a:moveTo>
                  <a:pt x="5109368" y="0"/>
                </a:moveTo>
                <a:lnTo>
                  <a:pt x="0" y="0"/>
                </a:lnTo>
                <a:lnTo>
                  <a:pt x="0" y="16376"/>
                </a:lnTo>
                <a:lnTo>
                  <a:pt x="5109368" y="16376"/>
                </a:lnTo>
                <a:lnTo>
                  <a:pt x="5109368" y="0"/>
                </a:lnTo>
                <a:close/>
              </a:path>
            </a:pathLst>
          </a:custGeom>
          <a:solidFill>
            <a:srgbClr val="B78D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141067" y="2227160"/>
            <a:ext cx="548640" cy="196850"/>
          </a:xfrm>
          <a:custGeom>
            <a:avLst/>
            <a:gdLst/>
            <a:ahLst/>
            <a:cxnLst/>
            <a:rect l="l" t="t" r="r" b="b"/>
            <a:pathLst>
              <a:path w="548640" h="196850">
                <a:moveTo>
                  <a:pt x="532618" y="0"/>
                </a:moveTo>
                <a:lnTo>
                  <a:pt x="15983" y="0"/>
                </a:lnTo>
                <a:lnTo>
                  <a:pt x="13624" y="469"/>
                </a:lnTo>
                <a:lnTo>
                  <a:pt x="0" y="15983"/>
                </a:lnTo>
                <a:lnTo>
                  <a:pt x="0" y="178096"/>
                </a:lnTo>
                <a:lnTo>
                  <a:pt x="0" y="180531"/>
                </a:lnTo>
                <a:lnTo>
                  <a:pt x="15983" y="196514"/>
                </a:lnTo>
                <a:lnTo>
                  <a:pt x="532618" y="196514"/>
                </a:lnTo>
                <a:lnTo>
                  <a:pt x="548602" y="180531"/>
                </a:lnTo>
                <a:lnTo>
                  <a:pt x="548602" y="15983"/>
                </a:lnTo>
                <a:lnTo>
                  <a:pt x="534977" y="469"/>
                </a:lnTo>
                <a:lnTo>
                  <a:pt x="532618" y="0"/>
                </a:lnTo>
                <a:close/>
              </a:path>
            </a:pathLst>
          </a:custGeom>
          <a:solidFill>
            <a:srgbClr val="F2F0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009005" y="2227160"/>
            <a:ext cx="728980" cy="196850"/>
          </a:xfrm>
          <a:custGeom>
            <a:avLst/>
            <a:gdLst/>
            <a:ahLst/>
            <a:cxnLst/>
            <a:rect l="l" t="t" r="r" b="b"/>
            <a:pathLst>
              <a:path w="728979" h="196850">
                <a:moveTo>
                  <a:pt x="712756" y="0"/>
                </a:moveTo>
                <a:lnTo>
                  <a:pt x="15983" y="0"/>
                </a:lnTo>
                <a:lnTo>
                  <a:pt x="13624" y="469"/>
                </a:lnTo>
                <a:lnTo>
                  <a:pt x="0" y="15983"/>
                </a:lnTo>
                <a:lnTo>
                  <a:pt x="0" y="178096"/>
                </a:lnTo>
                <a:lnTo>
                  <a:pt x="0" y="180531"/>
                </a:lnTo>
                <a:lnTo>
                  <a:pt x="15983" y="196514"/>
                </a:lnTo>
                <a:lnTo>
                  <a:pt x="712756" y="196514"/>
                </a:lnTo>
                <a:lnTo>
                  <a:pt x="728740" y="180531"/>
                </a:lnTo>
                <a:lnTo>
                  <a:pt x="728740" y="15983"/>
                </a:lnTo>
                <a:lnTo>
                  <a:pt x="715115" y="469"/>
                </a:lnTo>
                <a:lnTo>
                  <a:pt x="712756" y="0"/>
                </a:lnTo>
                <a:close/>
              </a:path>
            </a:pathLst>
          </a:custGeom>
          <a:solidFill>
            <a:srgbClr val="F2F0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200490" y="2947712"/>
            <a:ext cx="5109845" cy="16510"/>
          </a:xfrm>
          <a:custGeom>
            <a:avLst/>
            <a:gdLst/>
            <a:ahLst/>
            <a:cxnLst/>
            <a:rect l="l" t="t" r="r" b="b"/>
            <a:pathLst>
              <a:path w="5109845" h="16510">
                <a:moveTo>
                  <a:pt x="5109368" y="0"/>
                </a:moveTo>
                <a:lnTo>
                  <a:pt x="0" y="0"/>
                </a:lnTo>
                <a:lnTo>
                  <a:pt x="0" y="16376"/>
                </a:lnTo>
                <a:lnTo>
                  <a:pt x="5109368" y="16376"/>
                </a:lnTo>
                <a:lnTo>
                  <a:pt x="5109368" y="0"/>
                </a:lnTo>
                <a:close/>
              </a:path>
            </a:pathLst>
          </a:custGeom>
          <a:solidFill>
            <a:srgbClr val="B78D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200490" y="4094044"/>
            <a:ext cx="5109845" cy="16510"/>
          </a:xfrm>
          <a:custGeom>
            <a:avLst/>
            <a:gdLst/>
            <a:ahLst/>
            <a:cxnLst/>
            <a:rect l="l" t="t" r="r" b="b"/>
            <a:pathLst>
              <a:path w="5109845" h="16510">
                <a:moveTo>
                  <a:pt x="5109368" y="0"/>
                </a:moveTo>
                <a:lnTo>
                  <a:pt x="0" y="0"/>
                </a:lnTo>
                <a:lnTo>
                  <a:pt x="0" y="16376"/>
                </a:lnTo>
                <a:lnTo>
                  <a:pt x="5109368" y="16376"/>
                </a:lnTo>
                <a:lnTo>
                  <a:pt x="5109368" y="0"/>
                </a:lnTo>
                <a:close/>
              </a:path>
            </a:pathLst>
          </a:custGeom>
          <a:solidFill>
            <a:srgbClr val="B78D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683587" y="4536201"/>
            <a:ext cx="737235" cy="196850"/>
          </a:xfrm>
          <a:custGeom>
            <a:avLst/>
            <a:gdLst/>
            <a:ahLst/>
            <a:cxnLst/>
            <a:rect l="l" t="t" r="r" b="b"/>
            <a:pathLst>
              <a:path w="737235" h="196850">
                <a:moveTo>
                  <a:pt x="720944" y="0"/>
                </a:moveTo>
                <a:lnTo>
                  <a:pt x="15983" y="0"/>
                </a:lnTo>
                <a:lnTo>
                  <a:pt x="13624" y="469"/>
                </a:lnTo>
                <a:lnTo>
                  <a:pt x="0" y="15983"/>
                </a:lnTo>
                <a:lnTo>
                  <a:pt x="0" y="178096"/>
                </a:lnTo>
                <a:lnTo>
                  <a:pt x="0" y="180531"/>
                </a:lnTo>
                <a:lnTo>
                  <a:pt x="15983" y="196514"/>
                </a:lnTo>
                <a:lnTo>
                  <a:pt x="720944" y="196514"/>
                </a:lnTo>
                <a:lnTo>
                  <a:pt x="736928" y="180531"/>
                </a:lnTo>
                <a:lnTo>
                  <a:pt x="736928" y="15983"/>
                </a:lnTo>
                <a:lnTo>
                  <a:pt x="723303" y="469"/>
                </a:lnTo>
                <a:lnTo>
                  <a:pt x="720944" y="0"/>
                </a:lnTo>
                <a:close/>
              </a:path>
            </a:pathLst>
          </a:custGeom>
          <a:solidFill>
            <a:srgbClr val="F2F0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739851" y="4536201"/>
            <a:ext cx="1793239" cy="196850"/>
          </a:xfrm>
          <a:custGeom>
            <a:avLst/>
            <a:gdLst/>
            <a:ahLst/>
            <a:cxnLst/>
            <a:rect l="l" t="t" r="r" b="b"/>
            <a:pathLst>
              <a:path w="1793240" h="196850">
                <a:moveTo>
                  <a:pt x="1777208" y="0"/>
                </a:moveTo>
                <a:lnTo>
                  <a:pt x="15983" y="0"/>
                </a:lnTo>
                <a:lnTo>
                  <a:pt x="13624" y="469"/>
                </a:lnTo>
                <a:lnTo>
                  <a:pt x="0" y="15983"/>
                </a:lnTo>
                <a:lnTo>
                  <a:pt x="0" y="178096"/>
                </a:lnTo>
                <a:lnTo>
                  <a:pt x="0" y="180531"/>
                </a:lnTo>
                <a:lnTo>
                  <a:pt x="15983" y="196514"/>
                </a:lnTo>
                <a:lnTo>
                  <a:pt x="1777208" y="196514"/>
                </a:lnTo>
                <a:lnTo>
                  <a:pt x="1793191" y="180531"/>
                </a:lnTo>
                <a:lnTo>
                  <a:pt x="1793191" y="15983"/>
                </a:lnTo>
                <a:lnTo>
                  <a:pt x="1779566" y="469"/>
                </a:lnTo>
                <a:lnTo>
                  <a:pt x="1777208" y="0"/>
                </a:lnTo>
                <a:close/>
              </a:path>
            </a:pathLst>
          </a:custGeom>
          <a:solidFill>
            <a:srgbClr val="F2F0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200490" y="5256753"/>
            <a:ext cx="5109845" cy="16510"/>
          </a:xfrm>
          <a:custGeom>
            <a:avLst/>
            <a:gdLst/>
            <a:ahLst/>
            <a:cxnLst/>
            <a:rect l="l" t="t" r="r" b="b"/>
            <a:pathLst>
              <a:path w="5109845" h="16510">
                <a:moveTo>
                  <a:pt x="5109368" y="0"/>
                </a:moveTo>
                <a:lnTo>
                  <a:pt x="0" y="0"/>
                </a:lnTo>
                <a:lnTo>
                  <a:pt x="0" y="16376"/>
                </a:lnTo>
                <a:lnTo>
                  <a:pt x="5109368" y="16376"/>
                </a:lnTo>
                <a:lnTo>
                  <a:pt x="5109368" y="0"/>
                </a:lnTo>
                <a:close/>
              </a:path>
            </a:pathLst>
          </a:custGeom>
          <a:solidFill>
            <a:srgbClr val="B78D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4187790" y="1526660"/>
            <a:ext cx="3985260" cy="43618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25">
                <a:solidFill>
                  <a:srgbClr val="44413F"/>
                </a:solidFill>
                <a:latin typeface="Cambria"/>
                <a:cs typeface="Cambria"/>
              </a:rPr>
              <a:t>01</a:t>
            </a:r>
            <a:endParaRPr sz="11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450" spc="175">
                <a:solidFill>
                  <a:srgbClr val="44413F"/>
                </a:solidFill>
                <a:latin typeface="Cambria"/>
                <a:cs typeface="Cambria"/>
              </a:rPr>
              <a:t>Load</a:t>
            </a:r>
            <a:r>
              <a:rPr dirty="0" sz="1450" spc="9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450" spc="270">
                <a:solidFill>
                  <a:srgbClr val="44413F"/>
                </a:solidFill>
                <a:latin typeface="Cambria"/>
                <a:cs typeface="Cambria"/>
              </a:rPr>
              <a:t>&amp;</a:t>
            </a:r>
            <a:r>
              <a:rPr dirty="0" sz="1450" spc="9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450" spc="130">
                <a:solidFill>
                  <a:srgbClr val="44413F"/>
                </a:solidFill>
                <a:latin typeface="Cambria"/>
                <a:cs typeface="Cambria"/>
              </a:rPr>
              <a:t>Explore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150" spc="-25">
                <a:solidFill>
                  <a:srgbClr val="44413F"/>
                </a:solidFill>
                <a:latin typeface="Lucida Sans Unicode"/>
                <a:cs typeface="Lucida Sans Unicode"/>
              </a:rPr>
              <a:t>Imported</a:t>
            </a:r>
            <a:r>
              <a:rPr dirty="0" sz="11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5">
                <a:solidFill>
                  <a:srgbClr val="44413F"/>
                </a:solidFill>
                <a:latin typeface="Lucida Sans Unicode"/>
                <a:cs typeface="Lucida Sans Unicode"/>
              </a:rPr>
              <a:t>with</a:t>
            </a:r>
            <a:r>
              <a:rPr dirty="0" sz="11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30">
                <a:solidFill>
                  <a:srgbClr val="44413F"/>
                </a:solidFill>
                <a:latin typeface="Lucida Sans Unicode"/>
                <a:cs typeface="Lucida Sans Unicode"/>
              </a:rPr>
              <a:t>pandas;</a:t>
            </a:r>
            <a:r>
              <a:rPr dirty="0" sz="11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10">
                <a:solidFill>
                  <a:srgbClr val="44413F"/>
                </a:solidFill>
                <a:latin typeface="Lucida Sans Unicode"/>
                <a:cs typeface="Lucida Sans Unicode"/>
              </a:rPr>
              <a:t>used</a:t>
            </a:r>
            <a:r>
              <a:rPr dirty="0" sz="1150" spc="-35">
                <a:solidFill>
                  <a:srgbClr val="44413F"/>
                </a:solidFill>
                <a:latin typeface="Lucida Sans Unicode"/>
                <a:cs typeface="Lucida Sans Unicode"/>
              </a:rPr>
              <a:t> df.info()</a:t>
            </a:r>
            <a:r>
              <a:rPr dirty="0" sz="11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0">
                <a:solidFill>
                  <a:srgbClr val="44413F"/>
                </a:solidFill>
                <a:latin typeface="Lucida Sans Unicode"/>
                <a:cs typeface="Lucida Sans Unicode"/>
              </a:rPr>
              <a:t>and</a:t>
            </a:r>
            <a:r>
              <a:rPr dirty="0" sz="1150" spc="-3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10">
                <a:solidFill>
                  <a:srgbClr val="44413F"/>
                </a:solidFill>
                <a:latin typeface="Lucida Sans Unicode"/>
                <a:cs typeface="Lucida Sans Unicode"/>
              </a:rPr>
              <a:t>.describe()</a:t>
            </a:r>
            <a:endParaRPr sz="11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1150" spc="105">
                <a:solidFill>
                  <a:srgbClr val="44413F"/>
                </a:solidFill>
                <a:latin typeface="Cambria"/>
                <a:cs typeface="Cambria"/>
              </a:rPr>
              <a:t>02</a:t>
            </a:r>
            <a:endParaRPr sz="11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450" spc="165">
                <a:solidFill>
                  <a:srgbClr val="44413F"/>
                </a:solidFill>
                <a:latin typeface="Cambria"/>
                <a:cs typeface="Cambria"/>
              </a:rPr>
              <a:t>Clean</a:t>
            </a:r>
            <a:r>
              <a:rPr dirty="0" sz="1450" spc="9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450" spc="270">
                <a:solidFill>
                  <a:srgbClr val="44413F"/>
                </a:solidFill>
                <a:latin typeface="Cambria"/>
                <a:cs typeface="Cambria"/>
              </a:rPr>
              <a:t>&amp;</a:t>
            </a:r>
            <a:r>
              <a:rPr dirty="0" sz="1450" spc="9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450" spc="155">
                <a:solidFill>
                  <a:srgbClr val="44413F"/>
                </a:solidFill>
                <a:latin typeface="Cambria"/>
                <a:cs typeface="Cambria"/>
              </a:rPr>
              <a:t>Impute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150" spc="-40">
                <a:solidFill>
                  <a:srgbClr val="44413F"/>
                </a:solidFill>
                <a:latin typeface="Lucida Sans Unicode"/>
                <a:cs typeface="Lucida Sans Unicode"/>
              </a:rPr>
              <a:t>Missing</a:t>
            </a:r>
            <a:r>
              <a:rPr dirty="0" sz="11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5">
                <a:solidFill>
                  <a:srgbClr val="44413F"/>
                </a:solidFill>
                <a:latin typeface="Lucida Sans Unicode"/>
                <a:cs typeface="Lucida Sans Unicode"/>
              </a:rPr>
              <a:t>Review</a:t>
            </a:r>
            <a:r>
              <a:rPr dirty="0" sz="1150" spc="-40">
                <a:solidFill>
                  <a:srgbClr val="44413F"/>
                </a:solidFill>
                <a:latin typeface="Lucida Sans Unicode"/>
                <a:cs typeface="Lucida Sans Unicode"/>
              </a:rPr>
              <a:t> Ratings filled </a:t>
            </a:r>
            <a:r>
              <a:rPr dirty="0" sz="1150" spc="-25">
                <a:solidFill>
                  <a:srgbClr val="44413F"/>
                </a:solidFill>
                <a:latin typeface="Lucida Sans Unicode"/>
                <a:cs typeface="Lucida Sans Unicode"/>
              </a:rPr>
              <a:t>with</a:t>
            </a:r>
            <a:r>
              <a:rPr dirty="0" sz="11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150">
                <a:solidFill>
                  <a:srgbClr val="44413F"/>
                </a:solidFill>
                <a:latin typeface="Lucida Sans Unicode"/>
                <a:cs typeface="Lucida Sans Unicode"/>
              </a:rPr>
              <a:t>per-</a:t>
            </a:r>
            <a:r>
              <a:rPr dirty="0" sz="1150" spc="-20">
                <a:solidFill>
                  <a:srgbClr val="44413F"/>
                </a:solidFill>
                <a:latin typeface="Lucida Sans Unicode"/>
                <a:cs typeface="Lucida Sans Unicode"/>
              </a:rPr>
              <a:t>category</a:t>
            </a:r>
            <a:r>
              <a:rPr dirty="0" sz="11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10">
                <a:solidFill>
                  <a:srgbClr val="44413F"/>
                </a:solidFill>
                <a:latin typeface="Lucida Sans Unicode"/>
                <a:cs typeface="Lucida Sans Unicode"/>
              </a:rPr>
              <a:t>median</a:t>
            </a:r>
            <a:endParaRPr sz="11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1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1150" spc="105">
                <a:solidFill>
                  <a:srgbClr val="44413F"/>
                </a:solidFill>
                <a:latin typeface="Cambria"/>
                <a:cs typeface="Cambria"/>
              </a:rPr>
              <a:t>03</a:t>
            </a:r>
            <a:endParaRPr sz="1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1450" spc="105">
                <a:solidFill>
                  <a:srgbClr val="44413F"/>
                </a:solidFill>
                <a:latin typeface="Cambria"/>
                <a:cs typeface="Cambria"/>
              </a:rPr>
              <a:t>Feature</a:t>
            </a:r>
            <a:r>
              <a:rPr dirty="0" sz="1450" spc="114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450" spc="130">
                <a:solidFill>
                  <a:srgbClr val="44413F"/>
                </a:solidFill>
                <a:latin typeface="Cambria"/>
                <a:cs typeface="Cambria"/>
              </a:rPr>
              <a:t>Engineering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150">
                <a:solidFill>
                  <a:srgbClr val="44413F"/>
                </a:solidFill>
                <a:latin typeface="Lucida Sans Unicode"/>
                <a:cs typeface="Lucida Sans Unicode"/>
              </a:rPr>
              <a:t>Added</a:t>
            </a:r>
            <a:r>
              <a:rPr dirty="0" sz="1150" spc="-1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35">
                <a:solidFill>
                  <a:srgbClr val="44413F"/>
                </a:solidFill>
                <a:latin typeface="Lucida Sans Unicode"/>
                <a:cs typeface="Lucida Sans Unicode"/>
              </a:rPr>
              <a:t>age_group</a:t>
            </a:r>
            <a:r>
              <a:rPr dirty="0" sz="1150" spc="-1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0">
                <a:solidFill>
                  <a:srgbClr val="44413F"/>
                </a:solidFill>
                <a:latin typeface="Lucida Sans Unicode"/>
                <a:cs typeface="Lucida Sans Unicode"/>
              </a:rPr>
              <a:t>and</a:t>
            </a:r>
            <a:r>
              <a:rPr dirty="0" sz="1150" spc="-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5">
                <a:solidFill>
                  <a:srgbClr val="44413F"/>
                </a:solidFill>
                <a:latin typeface="Lucida Sans Unicode"/>
                <a:cs typeface="Lucida Sans Unicode"/>
              </a:rPr>
              <a:t>purchase_frequency_days</a:t>
            </a:r>
            <a:r>
              <a:rPr dirty="0" sz="1150" spc="-2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10">
                <a:solidFill>
                  <a:srgbClr val="44413F"/>
                </a:solidFill>
                <a:latin typeface="Lucida Sans Unicode"/>
                <a:cs typeface="Lucida Sans Unicode"/>
              </a:rPr>
              <a:t>columns</a:t>
            </a:r>
            <a:endParaRPr sz="11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1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85">
                <a:solidFill>
                  <a:srgbClr val="44413F"/>
                </a:solidFill>
                <a:latin typeface="Cambria"/>
                <a:cs typeface="Cambria"/>
              </a:rPr>
              <a:t>04</a:t>
            </a:r>
            <a:endParaRPr sz="11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450" spc="145">
                <a:solidFill>
                  <a:srgbClr val="44413F"/>
                </a:solidFill>
                <a:latin typeface="Cambria"/>
                <a:cs typeface="Cambria"/>
              </a:rPr>
              <a:t>Export</a:t>
            </a:r>
            <a:r>
              <a:rPr dirty="0" sz="1450" spc="10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44413F"/>
                </a:solidFill>
                <a:latin typeface="Cambria"/>
                <a:cs typeface="Cambria"/>
              </a:rPr>
              <a:t>to</a:t>
            </a:r>
            <a:r>
              <a:rPr dirty="0" sz="1450" spc="10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450" spc="150">
                <a:solidFill>
                  <a:srgbClr val="44413F"/>
                </a:solidFill>
                <a:latin typeface="Cambria"/>
                <a:cs typeface="Cambria"/>
              </a:rPr>
              <a:t>PostgreSQL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1150" spc="-10">
                <a:solidFill>
                  <a:srgbClr val="44413F"/>
                </a:solidFill>
                <a:latin typeface="Lucida Sans Unicode"/>
                <a:cs typeface="Lucida Sans Unicode"/>
              </a:rPr>
              <a:t>Cleaned</a:t>
            </a:r>
            <a:r>
              <a:rPr dirty="0" sz="11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0">
                <a:solidFill>
                  <a:srgbClr val="44413F"/>
                </a:solidFill>
                <a:latin typeface="Lucida Sans Unicode"/>
                <a:cs typeface="Lucida Sans Unicode"/>
              </a:rPr>
              <a:t>DataFrame</a:t>
            </a:r>
            <a:r>
              <a:rPr dirty="0" sz="11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0">
                <a:solidFill>
                  <a:srgbClr val="44413F"/>
                </a:solidFill>
                <a:latin typeface="Lucida Sans Unicode"/>
                <a:cs typeface="Lucida Sans Unicode"/>
              </a:rPr>
              <a:t>loaded</a:t>
            </a:r>
            <a:r>
              <a:rPr dirty="0" sz="11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35">
                <a:solidFill>
                  <a:srgbClr val="44413F"/>
                </a:solidFill>
                <a:latin typeface="Lucida Sans Unicode"/>
                <a:cs typeface="Lucida Sans Unicode"/>
              </a:rPr>
              <a:t>into</a:t>
            </a:r>
            <a:r>
              <a:rPr dirty="0" sz="11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10">
                <a:solidFill>
                  <a:srgbClr val="44413F"/>
                </a:solidFill>
                <a:latin typeface="Lucida Sans Unicode"/>
                <a:cs typeface="Lucida Sans Unicode"/>
              </a:rPr>
              <a:t>database</a:t>
            </a:r>
            <a:r>
              <a:rPr dirty="0" sz="11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50">
                <a:solidFill>
                  <a:srgbClr val="44413F"/>
                </a:solidFill>
                <a:latin typeface="Lucida Sans Unicode"/>
                <a:cs typeface="Lucida Sans Unicode"/>
              </a:rPr>
              <a:t>for</a:t>
            </a:r>
            <a:r>
              <a:rPr dirty="0" sz="11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150">
                <a:solidFill>
                  <a:srgbClr val="44413F"/>
                </a:solidFill>
                <a:latin typeface="Lucida Sans Unicode"/>
                <a:cs typeface="Lucida Sans Unicode"/>
              </a:rPr>
              <a:t>SQL</a:t>
            </a:r>
            <a:r>
              <a:rPr dirty="0" sz="11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10">
                <a:solidFill>
                  <a:srgbClr val="44413F"/>
                </a:solidFill>
                <a:latin typeface="Lucida Sans Unicode"/>
                <a:cs typeface="Lucida Sans Unicode"/>
              </a:rPr>
              <a:t>analysis</a:t>
            </a:r>
            <a:endParaRPr sz="1150">
              <a:latin typeface="Lucida Sans Unicode"/>
              <a:cs typeface="Lucida Sans Unicode"/>
            </a:endParaRPr>
          </a:p>
        </p:txBody>
      </p:sp>
      <p:pic>
        <p:nvPicPr>
          <p:cNvPr id="14" name="object 14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35581" y="5998267"/>
            <a:ext cx="1508246" cy="3602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0464800" cy="6435725"/>
          </a:xfrm>
          <a:custGeom>
            <a:avLst/>
            <a:gdLst/>
            <a:ahLst/>
            <a:cxnLst/>
            <a:rect l="l" t="t" r="r" b="b"/>
            <a:pathLst>
              <a:path w="10464800" h="6435725">
                <a:moveTo>
                  <a:pt x="10464293" y="0"/>
                </a:moveTo>
                <a:lnTo>
                  <a:pt x="0" y="0"/>
                </a:lnTo>
                <a:lnTo>
                  <a:pt x="0" y="6435540"/>
                </a:lnTo>
                <a:lnTo>
                  <a:pt x="10464293" y="6435540"/>
                </a:lnTo>
                <a:lnTo>
                  <a:pt x="10464293" y="0"/>
                </a:lnTo>
                <a:close/>
              </a:path>
            </a:pathLst>
          </a:custGeom>
          <a:solidFill>
            <a:srgbClr val="FFFD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050" spc="650"/>
              <a:t>SQL</a:t>
            </a:r>
            <a:r>
              <a:rPr dirty="0" sz="3050" spc="-10"/>
              <a:t> </a:t>
            </a:r>
            <a:r>
              <a:rPr dirty="0" sz="3050" spc="229"/>
              <a:t>Analysis:</a:t>
            </a:r>
            <a:r>
              <a:rPr dirty="0" sz="3050" spc="220"/>
              <a:t> </a:t>
            </a:r>
            <a:r>
              <a:rPr dirty="0" sz="3050" spc="335"/>
              <a:t>Revenue</a:t>
            </a:r>
            <a:r>
              <a:rPr dirty="0" sz="3050" spc="225"/>
              <a:t> </a:t>
            </a:r>
            <a:r>
              <a:rPr dirty="0" sz="3050" spc="235"/>
              <a:t>Insights</a:t>
            </a:r>
            <a:endParaRPr sz="3050"/>
          </a:p>
        </p:txBody>
      </p:sp>
      <p:sp>
        <p:nvSpPr>
          <p:cNvPr id="4" name="object 4" descr=""/>
          <p:cNvSpPr txBox="1"/>
          <p:nvPr/>
        </p:nvSpPr>
        <p:spPr>
          <a:xfrm>
            <a:off x="536675" y="2311244"/>
            <a:ext cx="4223385" cy="2512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155">
                <a:solidFill>
                  <a:srgbClr val="5C4E3D"/>
                </a:solidFill>
                <a:latin typeface="Cambria"/>
                <a:cs typeface="Cambria"/>
              </a:rPr>
              <a:t>Revenue</a:t>
            </a:r>
            <a:r>
              <a:rPr dirty="0" sz="1550" spc="114">
                <a:solidFill>
                  <a:srgbClr val="5C4E3D"/>
                </a:solidFill>
                <a:latin typeface="Cambria"/>
                <a:cs typeface="Cambria"/>
              </a:rPr>
              <a:t> </a:t>
            </a:r>
            <a:r>
              <a:rPr dirty="0" sz="1550" spc="165">
                <a:solidFill>
                  <a:srgbClr val="5C4E3D"/>
                </a:solidFill>
                <a:latin typeface="Cambria"/>
                <a:cs typeface="Cambria"/>
              </a:rPr>
              <a:t>by</a:t>
            </a:r>
            <a:r>
              <a:rPr dirty="0" sz="1550" spc="70">
                <a:solidFill>
                  <a:srgbClr val="5C4E3D"/>
                </a:solidFill>
                <a:latin typeface="Cambria"/>
                <a:cs typeface="Cambria"/>
              </a:rPr>
              <a:t> </a:t>
            </a:r>
            <a:r>
              <a:rPr dirty="0" sz="1550" spc="170">
                <a:solidFill>
                  <a:srgbClr val="5C4E3D"/>
                </a:solidFill>
                <a:latin typeface="Cambria"/>
                <a:cs typeface="Cambria"/>
              </a:rPr>
              <a:t>Gender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dirty="0" sz="1200">
                <a:solidFill>
                  <a:srgbClr val="44413F"/>
                </a:solidFill>
                <a:latin typeface="Lucida Sans Unicode"/>
                <a:cs typeface="Lucida Sans Unicode"/>
              </a:rPr>
              <a:t>Compared</a:t>
            </a:r>
            <a:r>
              <a:rPr dirty="0" sz="1200" spc="-6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44413F"/>
                </a:solidFill>
                <a:latin typeface="Lucida Sans Unicode"/>
                <a:cs typeface="Lucida Sans Unicode"/>
              </a:rPr>
              <a:t>total</a:t>
            </a:r>
            <a:r>
              <a:rPr dirty="0" sz="1200" spc="-5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44413F"/>
                </a:solidFill>
                <a:latin typeface="Lucida Sans Unicode"/>
                <a:cs typeface="Lucida Sans Unicode"/>
              </a:rPr>
              <a:t>revenue</a:t>
            </a:r>
            <a:r>
              <a:rPr dirty="0" sz="1200" spc="-5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35">
                <a:solidFill>
                  <a:srgbClr val="44413F"/>
                </a:solidFill>
                <a:latin typeface="Lucida Sans Unicode"/>
                <a:cs typeface="Lucida Sans Unicode"/>
              </a:rPr>
              <a:t>from</a:t>
            </a:r>
            <a:r>
              <a:rPr dirty="0" sz="1200" spc="-5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44413F"/>
                </a:solidFill>
                <a:latin typeface="Lucida Sans Unicode"/>
                <a:cs typeface="Lucida Sans Unicode"/>
              </a:rPr>
              <a:t>male</a:t>
            </a:r>
            <a:r>
              <a:rPr dirty="0" sz="1200" spc="-5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0">
                <a:solidFill>
                  <a:srgbClr val="44413F"/>
                </a:solidFill>
                <a:latin typeface="Lucida Sans Unicode"/>
                <a:cs typeface="Lucida Sans Unicode"/>
              </a:rPr>
              <a:t>vs.</a:t>
            </a:r>
            <a:r>
              <a:rPr dirty="0" sz="1200" spc="-5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44413F"/>
                </a:solidFill>
                <a:latin typeface="Lucida Sans Unicode"/>
                <a:cs typeface="Lucida Sans Unicode"/>
              </a:rPr>
              <a:t>female</a:t>
            </a:r>
            <a:r>
              <a:rPr dirty="0" sz="1200" spc="-5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44413F"/>
                </a:solidFill>
                <a:latin typeface="Lucida Sans Unicode"/>
                <a:cs typeface="Lucida Sans Unicode"/>
              </a:rPr>
              <a:t>customers.</a:t>
            </a:r>
            <a:endParaRPr sz="1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dirty="0" sz="1550" spc="120">
                <a:solidFill>
                  <a:srgbClr val="5C4E3D"/>
                </a:solidFill>
                <a:latin typeface="Cambria"/>
                <a:cs typeface="Cambria"/>
              </a:rPr>
              <a:t>Subscribers</a:t>
            </a:r>
            <a:r>
              <a:rPr dirty="0" sz="1550" spc="75">
                <a:solidFill>
                  <a:srgbClr val="5C4E3D"/>
                </a:solidFill>
                <a:latin typeface="Cambria"/>
                <a:cs typeface="Cambria"/>
              </a:rPr>
              <a:t> </a:t>
            </a:r>
            <a:r>
              <a:rPr dirty="0" sz="1550" spc="85">
                <a:solidFill>
                  <a:srgbClr val="5C4E3D"/>
                </a:solidFill>
                <a:latin typeface="Cambria"/>
                <a:cs typeface="Cambria"/>
              </a:rPr>
              <a:t>vs.</a:t>
            </a:r>
            <a:r>
              <a:rPr dirty="0" sz="1550" spc="120">
                <a:solidFill>
                  <a:srgbClr val="5C4E3D"/>
                </a:solidFill>
                <a:latin typeface="Cambria"/>
                <a:cs typeface="Cambria"/>
              </a:rPr>
              <a:t> </a:t>
            </a:r>
            <a:r>
              <a:rPr dirty="0" sz="1550" spc="210">
                <a:solidFill>
                  <a:srgbClr val="5C4E3D"/>
                </a:solidFill>
                <a:latin typeface="Cambria"/>
                <a:cs typeface="Cambria"/>
              </a:rPr>
              <a:t>Non-</a:t>
            </a:r>
            <a:r>
              <a:rPr dirty="0" sz="1550" spc="110">
                <a:solidFill>
                  <a:srgbClr val="5C4E3D"/>
                </a:solidFill>
                <a:latin typeface="Cambria"/>
                <a:cs typeface="Cambria"/>
              </a:rPr>
              <a:t>Subscribers</a:t>
            </a:r>
            <a:endParaRPr sz="1550">
              <a:latin typeface="Cambria"/>
              <a:cs typeface="Cambria"/>
            </a:endParaRPr>
          </a:p>
          <a:p>
            <a:pPr marL="12700" marR="5080">
              <a:lnSpc>
                <a:spcPct val="138300"/>
              </a:lnSpc>
              <a:spcBef>
                <a:spcPts val="960"/>
              </a:spcBef>
            </a:pPr>
            <a:r>
              <a:rPr dirty="0" sz="1200">
                <a:solidFill>
                  <a:srgbClr val="44413F"/>
                </a:solidFill>
                <a:latin typeface="Lucida Sans Unicode"/>
                <a:cs typeface="Lucida Sans Unicode"/>
              </a:rPr>
              <a:t>Subscribers</a:t>
            </a:r>
            <a:r>
              <a:rPr dirty="0" sz="1200" spc="-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44413F"/>
                </a:solidFill>
                <a:latin typeface="Lucida Sans Unicode"/>
                <a:cs typeface="Lucida Sans Unicode"/>
              </a:rPr>
              <a:t>show</a:t>
            </a:r>
            <a:r>
              <a:rPr dirty="0" sz="1200" spc="-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30">
                <a:solidFill>
                  <a:srgbClr val="44413F"/>
                </a:solidFill>
                <a:latin typeface="Lucida Sans Unicode"/>
                <a:cs typeface="Lucida Sans Unicode"/>
              </a:rPr>
              <a:t>higher</a:t>
            </a:r>
            <a:r>
              <a:rPr dirty="0" sz="1200" spc="-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44413F"/>
                </a:solidFill>
                <a:latin typeface="Lucida Sans Unicode"/>
                <a:cs typeface="Lucida Sans Unicode"/>
              </a:rPr>
              <a:t>average</a:t>
            </a:r>
            <a:r>
              <a:rPr dirty="0" sz="1200" spc="-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44413F"/>
                </a:solidFill>
                <a:latin typeface="Lucida Sans Unicode"/>
                <a:cs typeface="Lucida Sans Unicode"/>
              </a:rPr>
              <a:t>spend</a:t>
            </a:r>
            <a:r>
              <a:rPr dirty="0" sz="1200" spc="-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44413F"/>
                </a:solidFill>
                <a:latin typeface="Lucida Sans Unicode"/>
                <a:cs typeface="Lucida Sans Unicode"/>
              </a:rPr>
              <a:t>and</a:t>
            </a:r>
            <a:r>
              <a:rPr dirty="0" sz="1200" spc="-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44413F"/>
                </a:solidFill>
                <a:latin typeface="Lucida Sans Unicode"/>
                <a:cs typeface="Lucida Sans Unicode"/>
              </a:rPr>
              <a:t>total</a:t>
            </a:r>
            <a:r>
              <a:rPr dirty="0" sz="1200" spc="-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44413F"/>
                </a:solidFill>
                <a:latin typeface="Lucida Sans Unicode"/>
                <a:cs typeface="Lucida Sans Unicode"/>
              </a:rPr>
              <a:t>revenue contribution.</a:t>
            </a:r>
            <a:endParaRPr sz="1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1550" spc="155">
                <a:solidFill>
                  <a:srgbClr val="5C4E3D"/>
                </a:solidFill>
                <a:latin typeface="Cambria"/>
                <a:cs typeface="Cambria"/>
              </a:rPr>
              <a:t>Revenue</a:t>
            </a:r>
            <a:r>
              <a:rPr dirty="0" sz="1550" spc="114">
                <a:solidFill>
                  <a:srgbClr val="5C4E3D"/>
                </a:solidFill>
                <a:latin typeface="Cambria"/>
                <a:cs typeface="Cambria"/>
              </a:rPr>
              <a:t> </a:t>
            </a:r>
            <a:r>
              <a:rPr dirty="0" sz="1550" spc="165">
                <a:solidFill>
                  <a:srgbClr val="5C4E3D"/>
                </a:solidFill>
                <a:latin typeface="Cambria"/>
                <a:cs typeface="Cambria"/>
              </a:rPr>
              <a:t>by</a:t>
            </a:r>
            <a:r>
              <a:rPr dirty="0" sz="1550">
                <a:solidFill>
                  <a:srgbClr val="5C4E3D"/>
                </a:solidFill>
                <a:latin typeface="Cambria"/>
                <a:cs typeface="Cambria"/>
              </a:rPr>
              <a:t> </a:t>
            </a:r>
            <a:r>
              <a:rPr dirty="0" sz="1550" spc="165">
                <a:solidFill>
                  <a:srgbClr val="5C4E3D"/>
                </a:solidFill>
                <a:latin typeface="Cambria"/>
                <a:cs typeface="Cambria"/>
              </a:rPr>
              <a:t>Age</a:t>
            </a:r>
            <a:r>
              <a:rPr dirty="0" sz="1550" spc="114">
                <a:solidFill>
                  <a:srgbClr val="5C4E3D"/>
                </a:solidFill>
                <a:latin typeface="Cambria"/>
                <a:cs typeface="Cambria"/>
              </a:rPr>
              <a:t> </a:t>
            </a:r>
            <a:r>
              <a:rPr dirty="0" sz="1550" spc="190">
                <a:solidFill>
                  <a:srgbClr val="5C4E3D"/>
                </a:solidFill>
                <a:latin typeface="Cambria"/>
                <a:cs typeface="Cambria"/>
              </a:rPr>
              <a:t>Group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dirty="0" sz="1200" spc="-10">
                <a:solidFill>
                  <a:srgbClr val="44413F"/>
                </a:solidFill>
                <a:latin typeface="Lucida Sans Unicode"/>
                <a:cs typeface="Lucida Sans Unicode"/>
              </a:rPr>
              <a:t>Identified</a:t>
            </a:r>
            <a:r>
              <a:rPr dirty="0" sz="1200" spc="-7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44413F"/>
                </a:solidFill>
                <a:latin typeface="Lucida Sans Unicode"/>
                <a:cs typeface="Lucida Sans Unicode"/>
              </a:rPr>
              <a:t>which</a:t>
            </a:r>
            <a:r>
              <a:rPr dirty="0" sz="1200" spc="-6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44413F"/>
                </a:solidFill>
                <a:latin typeface="Lucida Sans Unicode"/>
                <a:cs typeface="Lucida Sans Unicode"/>
              </a:rPr>
              <a:t>age</a:t>
            </a:r>
            <a:r>
              <a:rPr dirty="0" sz="1200" spc="-6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44413F"/>
                </a:solidFill>
                <a:latin typeface="Lucida Sans Unicode"/>
                <a:cs typeface="Lucida Sans Unicode"/>
              </a:rPr>
              <a:t>segments</a:t>
            </a:r>
            <a:r>
              <a:rPr dirty="0" sz="1200" spc="-6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44413F"/>
                </a:solidFill>
                <a:latin typeface="Lucida Sans Unicode"/>
                <a:cs typeface="Lucida Sans Unicode"/>
              </a:rPr>
              <a:t>drive</a:t>
            </a:r>
            <a:r>
              <a:rPr dirty="0" sz="1200" spc="-6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44413F"/>
                </a:solidFill>
                <a:latin typeface="Lucida Sans Unicode"/>
                <a:cs typeface="Lucida Sans Unicode"/>
              </a:rPr>
              <a:t>the</a:t>
            </a:r>
            <a:r>
              <a:rPr dirty="0" sz="1200" spc="-6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44413F"/>
                </a:solidFill>
                <a:latin typeface="Lucida Sans Unicode"/>
                <a:cs typeface="Lucida Sans Unicode"/>
              </a:rPr>
              <a:t>most</a:t>
            </a:r>
            <a:r>
              <a:rPr dirty="0" sz="1200" spc="-6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44413F"/>
                </a:solidFill>
                <a:latin typeface="Lucida Sans Unicode"/>
                <a:cs typeface="Lucida Sans Unicode"/>
              </a:rPr>
              <a:t>revenue.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2712" y="1334197"/>
            <a:ext cx="4490925" cy="4490925"/>
          </a:xfrm>
          <a:prstGeom prst="rect">
            <a:avLst/>
          </a:prstGeom>
        </p:spPr>
      </p:pic>
      <p:pic>
        <p:nvPicPr>
          <p:cNvPr id="6" name="object 6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70822" y="5969530"/>
            <a:ext cx="1606269" cy="3836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835150"/>
            <a:ext cx="7436484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700"/>
              <a:t>SQL</a:t>
            </a:r>
            <a:r>
              <a:rPr dirty="0" spc="5"/>
              <a:t> </a:t>
            </a:r>
            <a:r>
              <a:rPr dirty="0" spc="240"/>
              <a:t>Analysis:</a:t>
            </a:r>
            <a:r>
              <a:rPr dirty="0" spc="254"/>
              <a:t> </a:t>
            </a:r>
            <a:r>
              <a:rPr dirty="0" spc="395"/>
              <a:t>Customer</a:t>
            </a:r>
            <a:r>
              <a:rPr dirty="0" spc="165"/>
              <a:t> </a:t>
            </a:r>
            <a:r>
              <a:rPr dirty="0" spc="320"/>
              <a:t>Behavior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81025" y="2733674"/>
            <a:ext cx="3314700" cy="1847850"/>
            <a:chOff x="581025" y="2733674"/>
            <a:chExt cx="3314700" cy="1847850"/>
          </a:xfrm>
        </p:grpSpPr>
        <p:sp>
          <p:nvSpPr>
            <p:cNvPr id="4" name="object 4" descr=""/>
            <p:cNvSpPr/>
            <p:nvPr/>
          </p:nvSpPr>
          <p:spPr>
            <a:xfrm>
              <a:off x="600075" y="2743199"/>
              <a:ext cx="3286125" cy="1828800"/>
            </a:xfrm>
            <a:custGeom>
              <a:avLst/>
              <a:gdLst/>
              <a:ahLst/>
              <a:cxnLst/>
              <a:rect l="l" t="t" r="r" b="b"/>
              <a:pathLst>
                <a:path w="3286125" h="1828800">
                  <a:moveTo>
                    <a:pt x="3238957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762125"/>
                  </a:lnTo>
                  <a:lnTo>
                    <a:pt x="0" y="1766506"/>
                  </a:lnTo>
                  <a:lnTo>
                    <a:pt x="15622" y="1802803"/>
                  </a:lnTo>
                  <a:lnTo>
                    <a:pt x="51663" y="1825396"/>
                  </a:lnTo>
                  <a:lnTo>
                    <a:pt x="71194" y="1828800"/>
                  </a:lnTo>
                  <a:lnTo>
                    <a:pt x="3238957" y="1828800"/>
                  </a:lnTo>
                  <a:lnTo>
                    <a:pt x="3273679" y="1811667"/>
                  </a:lnTo>
                  <a:lnTo>
                    <a:pt x="3285147" y="1788160"/>
                  </a:lnTo>
                  <a:lnTo>
                    <a:pt x="3285807" y="1784921"/>
                  </a:lnTo>
                  <a:lnTo>
                    <a:pt x="3286125" y="1781632"/>
                  </a:lnTo>
                  <a:lnTo>
                    <a:pt x="3286125" y="47167"/>
                  </a:lnTo>
                  <a:lnTo>
                    <a:pt x="3268992" y="12446"/>
                  </a:lnTo>
                  <a:lnTo>
                    <a:pt x="3242246" y="317"/>
                  </a:lnTo>
                  <a:lnTo>
                    <a:pt x="3238957" y="0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0913" y="2733687"/>
              <a:ext cx="3295015" cy="1847850"/>
            </a:xfrm>
            <a:custGeom>
              <a:avLst/>
              <a:gdLst/>
              <a:ahLst/>
              <a:cxnLst/>
              <a:rect l="l" t="t" r="r" b="b"/>
              <a:pathLst>
                <a:path w="3295015" h="1847850">
                  <a:moveTo>
                    <a:pt x="3294761" y="51828"/>
                  </a:moveTo>
                  <a:lnTo>
                    <a:pt x="3293275" y="44399"/>
                  </a:lnTo>
                  <a:lnTo>
                    <a:pt x="3287179" y="29692"/>
                  </a:lnTo>
                  <a:lnTo>
                    <a:pt x="3282848" y="23202"/>
                  </a:lnTo>
                  <a:lnTo>
                    <a:pt x="3277692" y="18059"/>
                  </a:lnTo>
                  <a:lnTo>
                    <a:pt x="3277451" y="17805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06" y="7607"/>
                  </a:lnTo>
                  <a:lnTo>
                    <a:pt x="3250527" y="1562"/>
                  </a:lnTo>
                  <a:lnTo>
                    <a:pt x="3250654" y="1562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001" y="31356"/>
                  </a:lnTo>
                  <a:lnTo>
                    <a:pt x="3269005" y="37350"/>
                  </a:lnTo>
                  <a:lnTo>
                    <a:pt x="3272790" y="44399"/>
                  </a:lnTo>
                  <a:lnTo>
                    <a:pt x="3274999" y="51828"/>
                  </a:lnTo>
                  <a:lnTo>
                    <a:pt x="3275749" y="60007"/>
                  </a:lnTo>
                  <a:lnTo>
                    <a:pt x="3275749" y="1787842"/>
                  </a:lnTo>
                  <a:lnTo>
                    <a:pt x="3257448" y="1822043"/>
                  </a:lnTo>
                  <a:lnTo>
                    <a:pt x="3234791" y="1828800"/>
                  </a:lnTo>
                  <a:lnTo>
                    <a:pt x="75349" y="1828800"/>
                  </a:lnTo>
                  <a:lnTo>
                    <a:pt x="33007" y="1819173"/>
                  </a:lnTo>
                  <a:lnTo>
                    <a:pt x="1092" y="1786521"/>
                  </a:lnTo>
                  <a:lnTo>
                    <a:pt x="0" y="1782406"/>
                  </a:lnTo>
                  <a:lnTo>
                    <a:pt x="609" y="1786521"/>
                  </a:lnTo>
                  <a:lnTo>
                    <a:pt x="2413" y="1793722"/>
                  </a:lnTo>
                  <a:lnTo>
                    <a:pt x="4851" y="1800517"/>
                  </a:lnTo>
                  <a:lnTo>
                    <a:pt x="4953" y="1800809"/>
                  </a:lnTo>
                  <a:lnTo>
                    <a:pt x="33007" y="1835010"/>
                  </a:lnTo>
                  <a:lnTo>
                    <a:pt x="75349" y="1847850"/>
                  </a:lnTo>
                  <a:lnTo>
                    <a:pt x="3242754" y="1847850"/>
                  </a:lnTo>
                  <a:lnTo>
                    <a:pt x="3250031" y="1846389"/>
                  </a:lnTo>
                  <a:lnTo>
                    <a:pt x="3250222" y="1846389"/>
                  </a:lnTo>
                  <a:lnTo>
                    <a:pt x="3265106" y="1840230"/>
                  </a:lnTo>
                  <a:lnTo>
                    <a:pt x="3271596" y="1835899"/>
                  </a:lnTo>
                  <a:lnTo>
                    <a:pt x="3277222" y="1830273"/>
                  </a:lnTo>
                  <a:lnTo>
                    <a:pt x="3277705" y="1829790"/>
                  </a:lnTo>
                  <a:lnTo>
                    <a:pt x="3282848" y="1824647"/>
                  </a:lnTo>
                  <a:lnTo>
                    <a:pt x="3287179" y="1818157"/>
                  </a:lnTo>
                  <a:lnTo>
                    <a:pt x="3293237" y="1803552"/>
                  </a:lnTo>
                  <a:lnTo>
                    <a:pt x="3294761" y="1796008"/>
                  </a:lnTo>
                  <a:lnTo>
                    <a:pt x="3294761" y="51828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1025" y="2733674"/>
              <a:ext cx="76200" cy="1847850"/>
            </a:xfrm>
            <a:custGeom>
              <a:avLst/>
              <a:gdLst/>
              <a:ahLst/>
              <a:cxnLst/>
              <a:rect l="l" t="t" r="r" b="b"/>
              <a:pathLst>
                <a:path w="76200" h="1847850">
                  <a:moveTo>
                    <a:pt x="76200" y="0"/>
                  </a:moveTo>
                  <a:lnTo>
                    <a:pt x="56067" y="0"/>
                  </a:lnTo>
                  <a:lnTo>
                    <a:pt x="52163" y="381"/>
                  </a:lnTo>
                  <a:lnTo>
                    <a:pt x="14789" y="20358"/>
                  </a:lnTo>
                  <a:lnTo>
                    <a:pt x="0" y="56070"/>
                  </a:lnTo>
                  <a:lnTo>
                    <a:pt x="0" y="1787842"/>
                  </a:lnTo>
                  <a:lnTo>
                    <a:pt x="0" y="1791779"/>
                  </a:lnTo>
                  <a:lnTo>
                    <a:pt x="14789" y="1827491"/>
                  </a:lnTo>
                  <a:lnTo>
                    <a:pt x="52163" y="1847469"/>
                  </a:lnTo>
                  <a:lnTo>
                    <a:pt x="56067" y="1847850"/>
                  </a:lnTo>
                  <a:lnTo>
                    <a:pt x="76200" y="18478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B78D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835019" y="2887662"/>
            <a:ext cx="2804795" cy="1464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43815">
              <a:lnSpc>
                <a:spcPct val="109800"/>
              </a:lnSpc>
              <a:spcBef>
                <a:spcPts val="90"/>
              </a:spcBef>
            </a:pPr>
            <a:r>
              <a:rPr dirty="0" sz="1650" spc="240">
                <a:solidFill>
                  <a:srgbClr val="44413F"/>
                </a:solidFill>
                <a:latin typeface="Cambria"/>
                <a:cs typeface="Cambria"/>
              </a:rPr>
              <a:t>High-</a:t>
            </a:r>
            <a:r>
              <a:rPr dirty="0" sz="1650" spc="200">
                <a:solidFill>
                  <a:srgbClr val="44413F"/>
                </a:solidFill>
                <a:latin typeface="Cambria"/>
                <a:cs typeface="Cambria"/>
              </a:rPr>
              <a:t>Spending</a:t>
            </a:r>
            <a:r>
              <a:rPr dirty="0" sz="1650" spc="12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75">
                <a:solidFill>
                  <a:srgbClr val="44413F"/>
                </a:solidFill>
                <a:latin typeface="Cambria"/>
                <a:cs typeface="Cambria"/>
              </a:rPr>
              <a:t>Discount </a:t>
            </a:r>
            <a:r>
              <a:rPr dirty="0" sz="1650" spc="125">
                <a:solidFill>
                  <a:srgbClr val="44413F"/>
                </a:solidFill>
                <a:latin typeface="Cambria"/>
                <a:cs typeface="Cambria"/>
              </a:rPr>
              <a:t>Users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30">
                <a:solidFill>
                  <a:srgbClr val="44413F"/>
                </a:solidFill>
                <a:latin typeface="Lucida Sans Unicode"/>
                <a:cs typeface="Lucida Sans Unicode"/>
              </a:rPr>
              <a:t>Customers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0">
                <a:solidFill>
                  <a:srgbClr val="44413F"/>
                </a:solidFill>
                <a:latin typeface="Lucida Sans Unicode"/>
                <a:cs typeface="Lucida Sans Unicode"/>
              </a:rPr>
              <a:t>using</a:t>
            </a:r>
            <a:r>
              <a:rPr dirty="0" sz="1350" spc="-3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44413F"/>
                </a:solidFill>
                <a:latin typeface="Lucida Sans Unicode"/>
                <a:cs typeface="Lucida Sans Unicode"/>
              </a:rPr>
              <a:t>discounts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yet 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spending</a:t>
            </a: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b="1">
                <a:solidFill>
                  <a:srgbClr val="44413F"/>
                </a:solidFill>
                <a:latin typeface="Arial"/>
                <a:cs typeface="Arial"/>
              </a:rPr>
              <a:t>above</a:t>
            </a:r>
            <a:r>
              <a:rPr dirty="0" sz="1350" spc="5" b="1">
                <a:solidFill>
                  <a:srgbClr val="44413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44413F"/>
                </a:solidFill>
                <a:latin typeface="Arial"/>
                <a:cs typeface="Arial"/>
              </a:rPr>
              <a:t>average</a:t>
            </a:r>
            <a:r>
              <a:rPr dirty="0" sz="1350" spc="55" b="1">
                <a:solidFill>
                  <a:srgbClr val="44413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purchase amount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048125" y="2733674"/>
            <a:ext cx="3314700" cy="1847850"/>
            <a:chOff x="4048125" y="2733674"/>
            <a:chExt cx="3314700" cy="1847850"/>
          </a:xfrm>
        </p:grpSpPr>
        <p:sp>
          <p:nvSpPr>
            <p:cNvPr id="9" name="object 9" descr=""/>
            <p:cNvSpPr/>
            <p:nvPr/>
          </p:nvSpPr>
          <p:spPr>
            <a:xfrm>
              <a:off x="4067175" y="2743199"/>
              <a:ext cx="3286125" cy="1828800"/>
            </a:xfrm>
            <a:custGeom>
              <a:avLst/>
              <a:gdLst/>
              <a:ahLst/>
              <a:cxnLst/>
              <a:rect l="l" t="t" r="r" b="b"/>
              <a:pathLst>
                <a:path w="3286125" h="1828800">
                  <a:moveTo>
                    <a:pt x="3238957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762125"/>
                  </a:lnTo>
                  <a:lnTo>
                    <a:pt x="0" y="1766506"/>
                  </a:lnTo>
                  <a:lnTo>
                    <a:pt x="15621" y="1802803"/>
                  </a:lnTo>
                  <a:lnTo>
                    <a:pt x="51663" y="1825396"/>
                  </a:lnTo>
                  <a:lnTo>
                    <a:pt x="71196" y="1828800"/>
                  </a:lnTo>
                  <a:lnTo>
                    <a:pt x="3238957" y="1828800"/>
                  </a:lnTo>
                  <a:lnTo>
                    <a:pt x="3273679" y="1811667"/>
                  </a:lnTo>
                  <a:lnTo>
                    <a:pt x="3285147" y="1788160"/>
                  </a:lnTo>
                  <a:lnTo>
                    <a:pt x="3285807" y="1784921"/>
                  </a:lnTo>
                  <a:lnTo>
                    <a:pt x="3286125" y="1781632"/>
                  </a:lnTo>
                  <a:lnTo>
                    <a:pt x="3286125" y="47167"/>
                  </a:lnTo>
                  <a:lnTo>
                    <a:pt x="3268992" y="12446"/>
                  </a:lnTo>
                  <a:lnTo>
                    <a:pt x="3242246" y="317"/>
                  </a:lnTo>
                  <a:lnTo>
                    <a:pt x="3238957" y="0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068013" y="2733687"/>
              <a:ext cx="3295015" cy="1847850"/>
            </a:xfrm>
            <a:custGeom>
              <a:avLst/>
              <a:gdLst/>
              <a:ahLst/>
              <a:cxnLst/>
              <a:rect l="l" t="t" r="r" b="b"/>
              <a:pathLst>
                <a:path w="3295015" h="1847850">
                  <a:moveTo>
                    <a:pt x="3294761" y="51828"/>
                  </a:moveTo>
                  <a:lnTo>
                    <a:pt x="3293275" y="44399"/>
                  </a:lnTo>
                  <a:lnTo>
                    <a:pt x="3287179" y="29692"/>
                  </a:lnTo>
                  <a:lnTo>
                    <a:pt x="3282848" y="23202"/>
                  </a:lnTo>
                  <a:lnTo>
                    <a:pt x="3277692" y="18059"/>
                  </a:lnTo>
                  <a:lnTo>
                    <a:pt x="3277451" y="17805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06" y="7607"/>
                  </a:lnTo>
                  <a:lnTo>
                    <a:pt x="3250527" y="1562"/>
                  </a:lnTo>
                  <a:lnTo>
                    <a:pt x="3250654" y="1562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001" y="31356"/>
                  </a:lnTo>
                  <a:lnTo>
                    <a:pt x="3269005" y="37350"/>
                  </a:lnTo>
                  <a:lnTo>
                    <a:pt x="3272790" y="44399"/>
                  </a:lnTo>
                  <a:lnTo>
                    <a:pt x="3274999" y="51828"/>
                  </a:lnTo>
                  <a:lnTo>
                    <a:pt x="3275749" y="60007"/>
                  </a:lnTo>
                  <a:lnTo>
                    <a:pt x="3275749" y="1787842"/>
                  </a:lnTo>
                  <a:lnTo>
                    <a:pt x="3257448" y="1822043"/>
                  </a:lnTo>
                  <a:lnTo>
                    <a:pt x="3234791" y="1828800"/>
                  </a:lnTo>
                  <a:lnTo>
                    <a:pt x="75349" y="1828800"/>
                  </a:lnTo>
                  <a:lnTo>
                    <a:pt x="33007" y="1819173"/>
                  </a:lnTo>
                  <a:lnTo>
                    <a:pt x="1079" y="1786521"/>
                  </a:lnTo>
                  <a:lnTo>
                    <a:pt x="0" y="1782419"/>
                  </a:lnTo>
                  <a:lnTo>
                    <a:pt x="609" y="1786521"/>
                  </a:lnTo>
                  <a:lnTo>
                    <a:pt x="2413" y="1793722"/>
                  </a:lnTo>
                  <a:lnTo>
                    <a:pt x="4851" y="1800517"/>
                  </a:lnTo>
                  <a:lnTo>
                    <a:pt x="4953" y="1800809"/>
                  </a:lnTo>
                  <a:lnTo>
                    <a:pt x="33007" y="1835010"/>
                  </a:lnTo>
                  <a:lnTo>
                    <a:pt x="75349" y="1847850"/>
                  </a:lnTo>
                  <a:lnTo>
                    <a:pt x="3242754" y="1847850"/>
                  </a:lnTo>
                  <a:lnTo>
                    <a:pt x="3250031" y="1846389"/>
                  </a:lnTo>
                  <a:lnTo>
                    <a:pt x="3250222" y="1846389"/>
                  </a:lnTo>
                  <a:lnTo>
                    <a:pt x="3265106" y="1840230"/>
                  </a:lnTo>
                  <a:lnTo>
                    <a:pt x="3271596" y="1835899"/>
                  </a:lnTo>
                  <a:lnTo>
                    <a:pt x="3277222" y="1830273"/>
                  </a:lnTo>
                  <a:lnTo>
                    <a:pt x="3277705" y="1829790"/>
                  </a:lnTo>
                  <a:lnTo>
                    <a:pt x="3282848" y="1824647"/>
                  </a:lnTo>
                  <a:lnTo>
                    <a:pt x="3287179" y="1818157"/>
                  </a:lnTo>
                  <a:lnTo>
                    <a:pt x="3293237" y="1803552"/>
                  </a:lnTo>
                  <a:lnTo>
                    <a:pt x="3294761" y="1796008"/>
                  </a:lnTo>
                  <a:lnTo>
                    <a:pt x="3294761" y="51828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048125" y="2733674"/>
              <a:ext cx="76200" cy="1847850"/>
            </a:xfrm>
            <a:custGeom>
              <a:avLst/>
              <a:gdLst/>
              <a:ahLst/>
              <a:cxnLst/>
              <a:rect l="l" t="t" r="r" b="b"/>
              <a:pathLst>
                <a:path w="76200" h="1847850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787842"/>
                  </a:lnTo>
                  <a:lnTo>
                    <a:pt x="0" y="1791779"/>
                  </a:lnTo>
                  <a:lnTo>
                    <a:pt x="14782" y="1827491"/>
                  </a:lnTo>
                  <a:lnTo>
                    <a:pt x="52158" y="1847469"/>
                  </a:lnTo>
                  <a:lnTo>
                    <a:pt x="56070" y="1847850"/>
                  </a:lnTo>
                  <a:lnTo>
                    <a:pt x="76200" y="18478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B78D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302125" y="2887662"/>
            <a:ext cx="2865755" cy="11887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36575">
              <a:lnSpc>
                <a:spcPct val="109800"/>
              </a:lnSpc>
              <a:spcBef>
                <a:spcPts val="90"/>
              </a:spcBef>
            </a:pPr>
            <a:r>
              <a:rPr dirty="0" sz="1650" spc="185">
                <a:solidFill>
                  <a:srgbClr val="44413F"/>
                </a:solidFill>
                <a:latin typeface="Cambria"/>
                <a:cs typeface="Cambria"/>
              </a:rPr>
              <a:t>Discount-</a:t>
            </a:r>
            <a:r>
              <a:rPr dirty="0" sz="1650" spc="195">
                <a:solidFill>
                  <a:srgbClr val="44413F"/>
                </a:solidFill>
                <a:latin typeface="Cambria"/>
                <a:cs typeface="Cambria"/>
              </a:rPr>
              <a:t>Dependent </a:t>
            </a:r>
            <a:r>
              <a:rPr dirty="0" sz="1650" spc="145">
                <a:solidFill>
                  <a:srgbClr val="44413F"/>
                </a:solidFill>
                <a:latin typeface="Cambria"/>
                <a:cs typeface="Cambria"/>
              </a:rPr>
              <a:t>Products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90">
                <a:solidFill>
                  <a:srgbClr val="44413F"/>
                </a:solidFill>
                <a:latin typeface="Lucida Sans Unicode"/>
                <a:cs typeface="Lucida Sans Unicode"/>
              </a:rPr>
              <a:t>Top</a:t>
            </a:r>
            <a:r>
              <a:rPr dirty="0" sz="1350" spc="-5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5</a:t>
            </a:r>
            <a:r>
              <a:rPr dirty="0" sz="1350" spc="-5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44413F"/>
                </a:solidFill>
                <a:latin typeface="Lucida Sans Unicode"/>
                <a:cs typeface="Lucida Sans Unicode"/>
              </a:rPr>
              <a:t>products</a:t>
            </a:r>
            <a:r>
              <a:rPr dirty="0" sz="1350" spc="-5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with</a:t>
            </a:r>
            <a:r>
              <a:rPr dirty="0" sz="1350" spc="-5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the</a:t>
            </a:r>
            <a:r>
              <a:rPr dirty="0" sz="1350" spc="-5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b="1">
                <a:solidFill>
                  <a:srgbClr val="44413F"/>
                </a:solidFill>
                <a:latin typeface="Arial"/>
                <a:cs typeface="Arial"/>
              </a:rPr>
              <a:t>highest</a:t>
            </a:r>
            <a:r>
              <a:rPr dirty="0" sz="1350" spc="-45" b="1">
                <a:solidFill>
                  <a:srgbClr val="44413F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44413F"/>
                </a:solidFill>
                <a:latin typeface="Arial"/>
                <a:cs typeface="Arial"/>
              </a:rPr>
              <a:t>% </a:t>
            </a:r>
            <a:r>
              <a:rPr dirty="0" sz="1350" b="1">
                <a:solidFill>
                  <a:srgbClr val="44413F"/>
                </a:solidFill>
                <a:latin typeface="Arial"/>
                <a:cs typeface="Arial"/>
              </a:rPr>
              <a:t>of</a:t>
            </a:r>
            <a:r>
              <a:rPr dirty="0" sz="1350" spc="50" b="1">
                <a:solidFill>
                  <a:srgbClr val="44413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44413F"/>
                </a:solidFill>
                <a:latin typeface="Arial"/>
                <a:cs typeface="Arial"/>
              </a:rPr>
              <a:t>discounted</a:t>
            </a:r>
            <a:r>
              <a:rPr dirty="0" sz="1350" spc="114" b="1">
                <a:solidFill>
                  <a:srgbClr val="44413F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44413F"/>
                </a:solidFill>
                <a:latin typeface="Lucida Sans Unicode"/>
                <a:cs typeface="Lucida Sans Unicode"/>
              </a:rPr>
              <a:t>purchases</a:t>
            </a:r>
            <a:r>
              <a:rPr dirty="0" sz="1350" spc="5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44413F"/>
                </a:solidFill>
                <a:latin typeface="Lucida Sans Unicode"/>
                <a:cs typeface="Lucida Sans Unicode"/>
              </a:rPr>
              <a:t>identified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7515225" y="2733674"/>
            <a:ext cx="3314700" cy="1847850"/>
            <a:chOff x="7515225" y="2733674"/>
            <a:chExt cx="3314700" cy="1847850"/>
          </a:xfrm>
        </p:grpSpPr>
        <p:sp>
          <p:nvSpPr>
            <p:cNvPr id="14" name="object 14" descr=""/>
            <p:cNvSpPr/>
            <p:nvPr/>
          </p:nvSpPr>
          <p:spPr>
            <a:xfrm>
              <a:off x="7534275" y="2743199"/>
              <a:ext cx="3286125" cy="1828800"/>
            </a:xfrm>
            <a:custGeom>
              <a:avLst/>
              <a:gdLst/>
              <a:ahLst/>
              <a:cxnLst/>
              <a:rect l="l" t="t" r="r" b="b"/>
              <a:pathLst>
                <a:path w="3286125" h="1828800">
                  <a:moveTo>
                    <a:pt x="3238957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762125"/>
                  </a:lnTo>
                  <a:lnTo>
                    <a:pt x="0" y="1766506"/>
                  </a:lnTo>
                  <a:lnTo>
                    <a:pt x="15621" y="1802803"/>
                  </a:lnTo>
                  <a:lnTo>
                    <a:pt x="51663" y="1825396"/>
                  </a:lnTo>
                  <a:lnTo>
                    <a:pt x="71196" y="1828800"/>
                  </a:lnTo>
                  <a:lnTo>
                    <a:pt x="3238957" y="1828800"/>
                  </a:lnTo>
                  <a:lnTo>
                    <a:pt x="3273679" y="1811667"/>
                  </a:lnTo>
                  <a:lnTo>
                    <a:pt x="3285147" y="1788160"/>
                  </a:lnTo>
                  <a:lnTo>
                    <a:pt x="3285807" y="1784921"/>
                  </a:lnTo>
                  <a:lnTo>
                    <a:pt x="3286125" y="1781632"/>
                  </a:lnTo>
                  <a:lnTo>
                    <a:pt x="3286125" y="47167"/>
                  </a:lnTo>
                  <a:lnTo>
                    <a:pt x="3268992" y="12446"/>
                  </a:lnTo>
                  <a:lnTo>
                    <a:pt x="3242246" y="317"/>
                  </a:lnTo>
                  <a:lnTo>
                    <a:pt x="3238957" y="0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535113" y="2733687"/>
              <a:ext cx="3295015" cy="1847850"/>
            </a:xfrm>
            <a:custGeom>
              <a:avLst/>
              <a:gdLst/>
              <a:ahLst/>
              <a:cxnLst/>
              <a:rect l="l" t="t" r="r" b="b"/>
              <a:pathLst>
                <a:path w="3295015" h="1847850">
                  <a:moveTo>
                    <a:pt x="3294761" y="51828"/>
                  </a:moveTo>
                  <a:lnTo>
                    <a:pt x="3293275" y="44399"/>
                  </a:lnTo>
                  <a:lnTo>
                    <a:pt x="3287179" y="29692"/>
                  </a:lnTo>
                  <a:lnTo>
                    <a:pt x="3282848" y="23202"/>
                  </a:lnTo>
                  <a:lnTo>
                    <a:pt x="3277692" y="18059"/>
                  </a:lnTo>
                  <a:lnTo>
                    <a:pt x="3277451" y="17805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06" y="7607"/>
                  </a:lnTo>
                  <a:lnTo>
                    <a:pt x="3250527" y="1562"/>
                  </a:lnTo>
                  <a:lnTo>
                    <a:pt x="3250654" y="1562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001" y="31356"/>
                  </a:lnTo>
                  <a:lnTo>
                    <a:pt x="3269005" y="37350"/>
                  </a:lnTo>
                  <a:lnTo>
                    <a:pt x="3272790" y="44399"/>
                  </a:lnTo>
                  <a:lnTo>
                    <a:pt x="3274999" y="51828"/>
                  </a:lnTo>
                  <a:lnTo>
                    <a:pt x="3275749" y="60007"/>
                  </a:lnTo>
                  <a:lnTo>
                    <a:pt x="3275749" y="1787842"/>
                  </a:lnTo>
                  <a:lnTo>
                    <a:pt x="3257448" y="1822043"/>
                  </a:lnTo>
                  <a:lnTo>
                    <a:pt x="3234791" y="1828800"/>
                  </a:lnTo>
                  <a:lnTo>
                    <a:pt x="75349" y="1828800"/>
                  </a:lnTo>
                  <a:lnTo>
                    <a:pt x="33007" y="1819173"/>
                  </a:lnTo>
                  <a:lnTo>
                    <a:pt x="1079" y="1786521"/>
                  </a:lnTo>
                  <a:lnTo>
                    <a:pt x="0" y="1782419"/>
                  </a:lnTo>
                  <a:lnTo>
                    <a:pt x="609" y="1786521"/>
                  </a:lnTo>
                  <a:lnTo>
                    <a:pt x="2413" y="1793722"/>
                  </a:lnTo>
                  <a:lnTo>
                    <a:pt x="4851" y="1800517"/>
                  </a:lnTo>
                  <a:lnTo>
                    <a:pt x="4953" y="1800809"/>
                  </a:lnTo>
                  <a:lnTo>
                    <a:pt x="33007" y="1835010"/>
                  </a:lnTo>
                  <a:lnTo>
                    <a:pt x="75349" y="1847850"/>
                  </a:lnTo>
                  <a:lnTo>
                    <a:pt x="3242754" y="1847850"/>
                  </a:lnTo>
                  <a:lnTo>
                    <a:pt x="3250031" y="1846389"/>
                  </a:lnTo>
                  <a:lnTo>
                    <a:pt x="3250222" y="1846389"/>
                  </a:lnTo>
                  <a:lnTo>
                    <a:pt x="3265106" y="1840230"/>
                  </a:lnTo>
                  <a:lnTo>
                    <a:pt x="3271596" y="1835899"/>
                  </a:lnTo>
                  <a:lnTo>
                    <a:pt x="3277222" y="1830273"/>
                  </a:lnTo>
                  <a:lnTo>
                    <a:pt x="3277705" y="1829790"/>
                  </a:lnTo>
                  <a:lnTo>
                    <a:pt x="3282848" y="1824647"/>
                  </a:lnTo>
                  <a:lnTo>
                    <a:pt x="3287179" y="1818157"/>
                  </a:lnTo>
                  <a:lnTo>
                    <a:pt x="3293237" y="1803552"/>
                  </a:lnTo>
                  <a:lnTo>
                    <a:pt x="3294761" y="1796008"/>
                  </a:lnTo>
                  <a:lnTo>
                    <a:pt x="3294761" y="51828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515225" y="2733674"/>
              <a:ext cx="76200" cy="1847850"/>
            </a:xfrm>
            <a:custGeom>
              <a:avLst/>
              <a:gdLst/>
              <a:ahLst/>
              <a:cxnLst/>
              <a:rect l="l" t="t" r="r" b="b"/>
              <a:pathLst>
                <a:path w="76200" h="1847850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787842"/>
                  </a:lnTo>
                  <a:lnTo>
                    <a:pt x="0" y="1791779"/>
                  </a:lnTo>
                  <a:lnTo>
                    <a:pt x="14782" y="1827491"/>
                  </a:lnTo>
                  <a:lnTo>
                    <a:pt x="52158" y="1847469"/>
                  </a:lnTo>
                  <a:lnTo>
                    <a:pt x="56070" y="1847850"/>
                  </a:lnTo>
                  <a:lnTo>
                    <a:pt x="76200" y="18478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B78D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7769225" y="2887662"/>
            <a:ext cx="2749550" cy="11887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897890">
              <a:lnSpc>
                <a:spcPct val="109800"/>
              </a:lnSpc>
              <a:spcBef>
                <a:spcPts val="90"/>
              </a:spcBef>
            </a:pPr>
            <a:r>
              <a:rPr dirty="0" sz="1650" spc="175">
                <a:solidFill>
                  <a:srgbClr val="44413F"/>
                </a:solidFill>
                <a:latin typeface="Cambria"/>
                <a:cs typeface="Cambria"/>
              </a:rPr>
              <a:t>Repeat</a:t>
            </a:r>
            <a:r>
              <a:rPr dirty="0" sz="1650" spc="13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65">
                <a:solidFill>
                  <a:srgbClr val="44413F"/>
                </a:solidFill>
                <a:latin typeface="Cambria"/>
                <a:cs typeface="Cambria"/>
              </a:rPr>
              <a:t>Buyers</a:t>
            </a:r>
            <a:r>
              <a:rPr dirty="0" sz="1650" spc="13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290">
                <a:solidFill>
                  <a:srgbClr val="44413F"/>
                </a:solidFill>
                <a:latin typeface="Cambria"/>
                <a:cs typeface="Cambria"/>
              </a:rPr>
              <a:t>&amp; </a:t>
            </a:r>
            <a:r>
              <a:rPr dirty="0" sz="1650" spc="140">
                <a:solidFill>
                  <a:srgbClr val="44413F"/>
                </a:solidFill>
                <a:latin typeface="Cambria"/>
                <a:cs typeface="Cambria"/>
              </a:rPr>
              <a:t>Subscriptions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30">
                <a:solidFill>
                  <a:srgbClr val="44413F"/>
                </a:solidFill>
                <a:latin typeface="Lucida Sans Unicode"/>
                <a:cs typeface="Lucida Sans Unicode"/>
              </a:rPr>
              <a:t>Customers</a:t>
            </a:r>
            <a:r>
              <a:rPr dirty="0" sz="1350" spc="-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with</a:t>
            </a: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b="1">
                <a:solidFill>
                  <a:srgbClr val="44413F"/>
                </a:solidFill>
                <a:latin typeface="Arial"/>
                <a:cs typeface="Arial"/>
              </a:rPr>
              <a:t>&gt;5 purchases</a:t>
            </a:r>
            <a:r>
              <a:rPr dirty="0" sz="1350" spc="45" b="1">
                <a:solidFill>
                  <a:srgbClr val="44413F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are </a:t>
            </a:r>
            <a:r>
              <a:rPr dirty="0" sz="1350" spc="-50">
                <a:solidFill>
                  <a:srgbClr val="44413F"/>
                </a:solidFill>
                <a:latin typeface="Lucida Sans Unicode"/>
                <a:cs typeface="Lucida Sans Unicode"/>
              </a:rPr>
              <a:t>more</a:t>
            </a:r>
            <a:r>
              <a:rPr dirty="0" sz="1350" spc="-7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0">
                <a:solidFill>
                  <a:srgbClr val="44413F"/>
                </a:solidFill>
                <a:latin typeface="Lucida Sans Unicode"/>
                <a:cs typeface="Lucida Sans Unicode"/>
              </a:rPr>
              <a:t>likely</a:t>
            </a:r>
            <a:r>
              <a:rPr dirty="0" sz="1350" spc="-6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to</a:t>
            </a:r>
            <a:r>
              <a:rPr dirty="0" sz="1350" spc="-6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subscribe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18" name="object 18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"/>
            <a:ext cx="11430000" cy="6457950"/>
          </a:xfrm>
          <a:custGeom>
            <a:avLst/>
            <a:gdLst/>
            <a:ahLst/>
            <a:cxnLst/>
            <a:rect l="l" t="t" r="r" b="b"/>
            <a:pathLst>
              <a:path w="11430000" h="6457950">
                <a:moveTo>
                  <a:pt x="11430000" y="0"/>
                </a:moveTo>
                <a:lnTo>
                  <a:pt x="0" y="0"/>
                </a:lnTo>
                <a:lnTo>
                  <a:pt x="0" y="6457950"/>
                </a:lnTo>
                <a:lnTo>
                  <a:pt x="11430000" y="64579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D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454025"/>
            <a:ext cx="537845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395"/>
              <a:t>Customer</a:t>
            </a:r>
            <a:r>
              <a:rPr dirty="0" spc="175"/>
              <a:t> </a:t>
            </a:r>
            <a:r>
              <a:rPr dirty="0" spc="350"/>
              <a:t>Segmentation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457325"/>
            <a:ext cx="6505574" cy="4333872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7534275" y="2190750"/>
            <a:ext cx="3305175" cy="1076325"/>
            <a:chOff x="7534275" y="2190750"/>
            <a:chExt cx="3305175" cy="1076325"/>
          </a:xfrm>
        </p:grpSpPr>
        <p:sp>
          <p:nvSpPr>
            <p:cNvPr id="6" name="object 6" descr=""/>
            <p:cNvSpPr/>
            <p:nvPr/>
          </p:nvSpPr>
          <p:spPr>
            <a:xfrm>
              <a:off x="7539037" y="2195512"/>
              <a:ext cx="3295650" cy="1066800"/>
            </a:xfrm>
            <a:custGeom>
              <a:avLst/>
              <a:gdLst/>
              <a:ahLst/>
              <a:cxnLst/>
              <a:rect l="l" t="t" r="r" b="b"/>
              <a:pathLst>
                <a:path w="3295650" h="1066800">
                  <a:moveTo>
                    <a:pt x="32440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011555"/>
                  </a:lnTo>
                  <a:lnTo>
                    <a:pt x="0" y="1015187"/>
                  </a:lnTo>
                  <a:lnTo>
                    <a:pt x="18745" y="1053185"/>
                  </a:lnTo>
                  <a:lnTo>
                    <a:pt x="51612" y="1066800"/>
                  </a:lnTo>
                  <a:lnTo>
                    <a:pt x="3244037" y="1066800"/>
                  </a:lnTo>
                  <a:lnTo>
                    <a:pt x="3282035" y="1048054"/>
                  </a:lnTo>
                  <a:lnTo>
                    <a:pt x="3295650" y="1015187"/>
                  </a:lnTo>
                  <a:lnTo>
                    <a:pt x="3295650" y="51612"/>
                  </a:lnTo>
                  <a:lnTo>
                    <a:pt x="3276904" y="13614"/>
                  </a:lnTo>
                  <a:lnTo>
                    <a:pt x="3247618" y="355"/>
                  </a:lnTo>
                  <a:lnTo>
                    <a:pt x="3244037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539037" y="2195512"/>
              <a:ext cx="3295650" cy="1066800"/>
            </a:xfrm>
            <a:custGeom>
              <a:avLst/>
              <a:gdLst/>
              <a:ahLst/>
              <a:cxnLst/>
              <a:rect l="l" t="t" r="r" b="b"/>
              <a:pathLst>
                <a:path w="3295650" h="1066800">
                  <a:moveTo>
                    <a:pt x="0" y="10115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40405" y="0"/>
                  </a:lnTo>
                  <a:lnTo>
                    <a:pt x="3244037" y="0"/>
                  </a:lnTo>
                  <a:lnTo>
                    <a:pt x="3247618" y="355"/>
                  </a:lnTo>
                  <a:lnTo>
                    <a:pt x="3251174" y="1066"/>
                  </a:lnTo>
                  <a:lnTo>
                    <a:pt x="3254743" y="1765"/>
                  </a:lnTo>
                  <a:lnTo>
                    <a:pt x="3258197" y="2819"/>
                  </a:lnTo>
                  <a:lnTo>
                    <a:pt x="3261537" y="4203"/>
                  </a:lnTo>
                  <a:lnTo>
                    <a:pt x="3264903" y="5588"/>
                  </a:lnTo>
                  <a:lnTo>
                    <a:pt x="3268078" y="7289"/>
                  </a:lnTo>
                  <a:lnTo>
                    <a:pt x="3271088" y="9309"/>
                  </a:lnTo>
                  <a:lnTo>
                    <a:pt x="3274110" y="11328"/>
                  </a:lnTo>
                  <a:lnTo>
                    <a:pt x="3276904" y="13614"/>
                  </a:lnTo>
                  <a:lnTo>
                    <a:pt x="3279470" y="16179"/>
                  </a:lnTo>
                  <a:lnTo>
                    <a:pt x="3282035" y="18745"/>
                  </a:lnTo>
                  <a:lnTo>
                    <a:pt x="3294583" y="44462"/>
                  </a:lnTo>
                  <a:lnTo>
                    <a:pt x="3295294" y="48018"/>
                  </a:lnTo>
                  <a:lnTo>
                    <a:pt x="3295650" y="51612"/>
                  </a:lnTo>
                  <a:lnTo>
                    <a:pt x="3295650" y="55245"/>
                  </a:lnTo>
                  <a:lnTo>
                    <a:pt x="3295650" y="1011555"/>
                  </a:lnTo>
                  <a:lnTo>
                    <a:pt x="3295650" y="1015187"/>
                  </a:lnTo>
                  <a:lnTo>
                    <a:pt x="3295294" y="1018781"/>
                  </a:lnTo>
                  <a:lnTo>
                    <a:pt x="3294583" y="1022337"/>
                  </a:lnTo>
                  <a:lnTo>
                    <a:pt x="3293884" y="1025893"/>
                  </a:lnTo>
                  <a:lnTo>
                    <a:pt x="3279470" y="1050620"/>
                  </a:lnTo>
                  <a:lnTo>
                    <a:pt x="3276904" y="1053185"/>
                  </a:lnTo>
                  <a:lnTo>
                    <a:pt x="3261537" y="1062596"/>
                  </a:lnTo>
                  <a:lnTo>
                    <a:pt x="3258197" y="1063980"/>
                  </a:lnTo>
                  <a:lnTo>
                    <a:pt x="3254743" y="1065034"/>
                  </a:lnTo>
                  <a:lnTo>
                    <a:pt x="3251174" y="1065745"/>
                  </a:lnTo>
                  <a:lnTo>
                    <a:pt x="3247618" y="1066444"/>
                  </a:lnTo>
                  <a:lnTo>
                    <a:pt x="3244037" y="1066800"/>
                  </a:lnTo>
                  <a:lnTo>
                    <a:pt x="3240405" y="1066800"/>
                  </a:lnTo>
                  <a:lnTo>
                    <a:pt x="55245" y="1066800"/>
                  </a:lnTo>
                  <a:lnTo>
                    <a:pt x="51612" y="1066800"/>
                  </a:lnTo>
                  <a:lnTo>
                    <a:pt x="48018" y="1066444"/>
                  </a:lnTo>
                  <a:lnTo>
                    <a:pt x="44462" y="1065745"/>
                  </a:lnTo>
                  <a:lnTo>
                    <a:pt x="40906" y="1065034"/>
                  </a:lnTo>
                  <a:lnTo>
                    <a:pt x="37452" y="1063980"/>
                  </a:lnTo>
                  <a:lnTo>
                    <a:pt x="34099" y="1062596"/>
                  </a:lnTo>
                  <a:lnTo>
                    <a:pt x="30746" y="1061212"/>
                  </a:lnTo>
                  <a:lnTo>
                    <a:pt x="16179" y="1050620"/>
                  </a:lnTo>
                  <a:lnTo>
                    <a:pt x="13614" y="1048054"/>
                  </a:lnTo>
                  <a:lnTo>
                    <a:pt x="4203" y="1032700"/>
                  </a:lnTo>
                  <a:lnTo>
                    <a:pt x="2819" y="1029347"/>
                  </a:lnTo>
                  <a:lnTo>
                    <a:pt x="1765" y="1025893"/>
                  </a:lnTo>
                  <a:lnTo>
                    <a:pt x="1066" y="1022337"/>
                  </a:lnTo>
                  <a:lnTo>
                    <a:pt x="355" y="1018781"/>
                  </a:lnTo>
                  <a:lnTo>
                    <a:pt x="0" y="1015187"/>
                  </a:lnTo>
                  <a:lnTo>
                    <a:pt x="0" y="1011555"/>
                  </a:lnTo>
                  <a:close/>
                </a:path>
              </a:pathLst>
            </a:custGeom>
            <a:ln w="9525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7518006" y="1383664"/>
            <a:ext cx="3307079" cy="1663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30">
                <a:solidFill>
                  <a:srgbClr val="44413F"/>
                </a:solidFill>
                <a:latin typeface="Lucida Sans Unicode"/>
                <a:cs typeface="Lucida Sans Unicode"/>
              </a:rPr>
              <a:t>Customers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44413F"/>
                </a:solidFill>
                <a:latin typeface="Lucida Sans Unicode"/>
                <a:cs typeface="Lucida Sans Unicode"/>
              </a:rPr>
              <a:t>classified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by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purchase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history 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into</a:t>
            </a:r>
            <a:r>
              <a:rPr dirty="0" sz="1350" spc="-5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44413F"/>
                </a:solidFill>
                <a:latin typeface="Lucida Sans Unicode"/>
                <a:cs typeface="Lucida Sans Unicode"/>
              </a:rPr>
              <a:t>three</a:t>
            </a:r>
            <a:r>
              <a:rPr dirty="0" sz="1350" spc="-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segments:</a:t>
            </a:r>
            <a:endParaRPr sz="13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350">
              <a:latin typeface="Lucida Sans Unicode"/>
              <a:cs typeface="Lucida Sans Unicode"/>
            </a:endParaRPr>
          </a:p>
          <a:p>
            <a:pPr marL="193675">
              <a:lnSpc>
                <a:spcPct val="100000"/>
              </a:lnSpc>
              <a:spcBef>
                <a:spcPts val="5"/>
              </a:spcBef>
              <a:tabLst>
                <a:tab pos="521334" algn="l"/>
              </a:tabLst>
            </a:pPr>
            <a:r>
              <a:rPr dirty="0" sz="1850" spc="-925">
                <a:latin typeface="Times New Roman"/>
                <a:cs typeface="Times New Roman"/>
              </a:rPr>
              <a:t>2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sz="1650" spc="185">
                <a:solidFill>
                  <a:srgbClr val="44413F"/>
                </a:solidFill>
                <a:latin typeface="Cambria"/>
                <a:cs typeface="Cambria"/>
              </a:rPr>
              <a:t>New</a:t>
            </a:r>
            <a:endParaRPr sz="1650">
              <a:latin typeface="Cambria"/>
              <a:cs typeface="Cambria"/>
            </a:endParaRPr>
          </a:p>
          <a:p>
            <a:pPr marL="193040">
              <a:lnSpc>
                <a:spcPct val="100000"/>
              </a:lnSpc>
              <a:spcBef>
                <a:spcPts val="1580"/>
              </a:spcBef>
            </a:pP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First-</a:t>
            </a:r>
            <a:r>
              <a:rPr dirty="0" sz="1350" spc="-20">
                <a:solidFill>
                  <a:srgbClr val="44413F"/>
                </a:solidFill>
                <a:latin typeface="Lucida Sans Unicode"/>
                <a:cs typeface="Lucida Sans Unicode"/>
              </a:rPr>
              <a:t>time</a:t>
            </a:r>
            <a:r>
              <a:rPr dirty="0" sz="1350" spc="-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buyers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7534275" y="3438525"/>
            <a:ext cx="3305175" cy="1076325"/>
            <a:chOff x="7534275" y="3438525"/>
            <a:chExt cx="3305175" cy="1076325"/>
          </a:xfrm>
        </p:grpSpPr>
        <p:sp>
          <p:nvSpPr>
            <p:cNvPr id="10" name="object 10" descr=""/>
            <p:cNvSpPr/>
            <p:nvPr/>
          </p:nvSpPr>
          <p:spPr>
            <a:xfrm>
              <a:off x="7539037" y="3443287"/>
              <a:ext cx="3295650" cy="1066800"/>
            </a:xfrm>
            <a:custGeom>
              <a:avLst/>
              <a:gdLst/>
              <a:ahLst/>
              <a:cxnLst/>
              <a:rect l="l" t="t" r="r" b="b"/>
              <a:pathLst>
                <a:path w="3295650" h="1066800">
                  <a:moveTo>
                    <a:pt x="32440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011555"/>
                  </a:lnTo>
                  <a:lnTo>
                    <a:pt x="0" y="1015187"/>
                  </a:lnTo>
                  <a:lnTo>
                    <a:pt x="18745" y="1053185"/>
                  </a:lnTo>
                  <a:lnTo>
                    <a:pt x="51612" y="1066800"/>
                  </a:lnTo>
                  <a:lnTo>
                    <a:pt x="3244037" y="1066800"/>
                  </a:lnTo>
                  <a:lnTo>
                    <a:pt x="3282035" y="1048054"/>
                  </a:lnTo>
                  <a:lnTo>
                    <a:pt x="3295650" y="1015187"/>
                  </a:lnTo>
                  <a:lnTo>
                    <a:pt x="3295650" y="51612"/>
                  </a:lnTo>
                  <a:lnTo>
                    <a:pt x="3276904" y="13614"/>
                  </a:lnTo>
                  <a:lnTo>
                    <a:pt x="3247618" y="355"/>
                  </a:lnTo>
                  <a:lnTo>
                    <a:pt x="3244037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539037" y="3443287"/>
              <a:ext cx="3295650" cy="1066800"/>
            </a:xfrm>
            <a:custGeom>
              <a:avLst/>
              <a:gdLst/>
              <a:ahLst/>
              <a:cxnLst/>
              <a:rect l="l" t="t" r="r" b="b"/>
              <a:pathLst>
                <a:path w="3295650" h="1066800">
                  <a:moveTo>
                    <a:pt x="0" y="10115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40405" y="0"/>
                  </a:lnTo>
                  <a:lnTo>
                    <a:pt x="3244037" y="0"/>
                  </a:lnTo>
                  <a:lnTo>
                    <a:pt x="3247618" y="355"/>
                  </a:lnTo>
                  <a:lnTo>
                    <a:pt x="3251174" y="1054"/>
                  </a:lnTo>
                  <a:lnTo>
                    <a:pt x="3254743" y="1765"/>
                  </a:lnTo>
                  <a:lnTo>
                    <a:pt x="3258197" y="2819"/>
                  </a:lnTo>
                  <a:lnTo>
                    <a:pt x="3261537" y="4203"/>
                  </a:lnTo>
                  <a:lnTo>
                    <a:pt x="3264903" y="5588"/>
                  </a:lnTo>
                  <a:lnTo>
                    <a:pt x="3268078" y="7289"/>
                  </a:lnTo>
                  <a:lnTo>
                    <a:pt x="3271088" y="9309"/>
                  </a:lnTo>
                  <a:lnTo>
                    <a:pt x="3274110" y="11328"/>
                  </a:lnTo>
                  <a:lnTo>
                    <a:pt x="3276904" y="13614"/>
                  </a:lnTo>
                  <a:lnTo>
                    <a:pt x="3279470" y="16179"/>
                  </a:lnTo>
                  <a:lnTo>
                    <a:pt x="3282035" y="18745"/>
                  </a:lnTo>
                  <a:lnTo>
                    <a:pt x="3294583" y="44462"/>
                  </a:lnTo>
                  <a:lnTo>
                    <a:pt x="3295294" y="48018"/>
                  </a:lnTo>
                  <a:lnTo>
                    <a:pt x="3295650" y="51612"/>
                  </a:lnTo>
                  <a:lnTo>
                    <a:pt x="3295650" y="55245"/>
                  </a:lnTo>
                  <a:lnTo>
                    <a:pt x="3295650" y="1011555"/>
                  </a:lnTo>
                  <a:lnTo>
                    <a:pt x="3295650" y="1015187"/>
                  </a:lnTo>
                  <a:lnTo>
                    <a:pt x="3295294" y="1018781"/>
                  </a:lnTo>
                  <a:lnTo>
                    <a:pt x="3294583" y="1022337"/>
                  </a:lnTo>
                  <a:lnTo>
                    <a:pt x="3293884" y="1025893"/>
                  </a:lnTo>
                  <a:lnTo>
                    <a:pt x="3279470" y="1050620"/>
                  </a:lnTo>
                  <a:lnTo>
                    <a:pt x="3276904" y="1053185"/>
                  </a:lnTo>
                  <a:lnTo>
                    <a:pt x="3261537" y="1062596"/>
                  </a:lnTo>
                  <a:lnTo>
                    <a:pt x="3258197" y="1063980"/>
                  </a:lnTo>
                  <a:lnTo>
                    <a:pt x="3254743" y="1065034"/>
                  </a:lnTo>
                  <a:lnTo>
                    <a:pt x="3251174" y="1065733"/>
                  </a:lnTo>
                  <a:lnTo>
                    <a:pt x="3247618" y="1066444"/>
                  </a:lnTo>
                  <a:lnTo>
                    <a:pt x="3244037" y="1066800"/>
                  </a:lnTo>
                  <a:lnTo>
                    <a:pt x="3240405" y="1066800"/>
                  </a:lnTo>
                  <a:lnTo>
                    <a:pt x="55245" y="1066800"/>
                  </a:lnTo>
                  <a:lnTo>
                    <a:pt x="51612" y="1066800"/>
                  </a:lnTo>
                  <a:lnTo>
                    <a:pt x="48018" y="1066444"/>
                  </a:lnTo>
                  <a:lnTo>
                    <a:pt x="44462" y="1065733"/>
                  </a:lnTo>
                  <a:lnTo>
                    <a:pt x="40906" y="1065034"/>
                  </a:lnTo>
                  <a:lnTo>
                    <a:pt x="37452" y="1063980"/>
                  </a:lnTo>
                  <a:lnTo>
                    <a:pt x="34099" y="1062596"/>
                  </a:lnTo>
                  <a:lnTo>
                    <a:pt x="30746" y="1061212"/>
                  </a:lnTo>
                  <a:lnTo>
                    <a:pt x="16179" y="1050620"/>
                  </a:lnTo>
                  <a:lnTo>
                    <a:pt x="13614" y="1048054"/>
                  </a:lnTo>
                  <a:lnTo>
                    <a:pt x="1066" y="1022337"/>
                  </a:lnTo>
                  <a:lnTo>
                    <a:pt x="355" y="1018781"/>
                  </a:lnTo>
                  <a:lnTo>
                    <a:pt x="0" y="1015187"/>
                  </a:lnTo>
                  <a:lnTo>
                    <a:pt x="0" y="1011555"/>
                  </a:lnTo>
                  <a:close/>
                </a:path>
              </a:pathLst>
            </a:custGeom>
            <a:ln w="9525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7698972" y="3580890"/>
            <a:ext cx="1468120" cy="71437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  <a:tabLst>
                <a:tab pos="340995" algn="l"/>
              </a:tabLst>
            </a:pP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sz="1650" spc="170">
                <a:solidFill>
                  <a:srgbClr val="44413F"/>
                </a:solidFill>
                <a:latin typeface="Cambria"/>
                <a:cs typeface="Cambria"/>
              </a:rPr>
              <a:t>Returning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dirty="0" sz="1350" spc="-20">
                <a:solidFill>
                  <a:srgbClr val="44413F"/>
                </a:solidFill>
                <a:latin typeface="Lucida Sans Unicode"/>
                <a:cs typeface="Lucida Sans Unicode"/>
              </a:rPr>
              <a:t>Moderate</a:t>
            </a:r>
            <a:r>
              <a:rPr dirty="0" sz="1350" spc="-6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history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7534275" y="4686300"/>
            <a:ext cx="3305175" cy="1076325"/>
            <a:chOff x="7534275" y="4686300"/>
            <a:chExt cx="3305175" cy="1076325"/>
          </a:xfrm>
        </p:grpSpPr>
        <p:sp>
          <p:nvSpPr>
            <p:cNvPr id="14" name="object 14" descr=""/>
            <p:cNvSpPr/>
            <p:nvPr/>
          </p:nvSpPr>
          <p:spPr>
            <a:xfrm>
              <a:off x="7539037" y="4691062"/>
              <a:ext cx="3295650" cy="1066800"/>
            </a:xfrm>
            <a:custGeom>
              <a:avLst/>
              <a:gdLst/>
              <a:ahLst/>
              <a:cxnLst/>
              <a:rect l="l" t="t" r="r" b="b"/>
              <a:pathLst>
                <a:path w="3295650" h="1066800">
                  <a:moveTo>
                    <a:pt x="32440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011557"/>
                  </a:lnTo>
                  <a:lnTo>
                    <a:pt x="0" y="1015183"/>
                  </a:lnTo>
                  <a:lnTo>
                    <a:pt x="18745" y="1053184"/>
                  </a:lnTo>
                  <a:lnTo>
                    <a:pt x="51612" y="1066797"/>
                  </a:lnTo>
                  <a:lnTo>
                    <a:pt x="3244037" y="1066797"/>
                  </a:lnTo>
                  <a:lnTo>
                    <a:pt x="3282035" y="1048054"/>
                  </a:lnTo>
                  <a:lnTo>
                    <a:pt x="3295650" y="1015183"/>
                  </a:lnTo>
                  <a:lnTo>
                    <a:pt x="3295650" y="51612"/>
                  </a:lnTo>
                  <a:lnTo>
                    <a:pt x="3276904" y="13614"/>
                  </a:lnTo>
                  <a:lnTo>
                    <a:pt x="3247618" y="355"/>
                  </a:lnTo>
                  <a:lnTo>
                    <a:pt x="3244037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539037" y="4691062"/>
              <a:ext cx="3295650" cy="1066800"/>
            </a:xfrm>
            <a:custGeom>
              <a:avLst/>
              <a:gdLst/>
              <a:ahLst/>
              <a:cxnLst/>
              <a:rect l="l" t="t" r="r" b="b"/>
              <a:pathLst>
                <a:path w="3295650" h="1066800">
                  <a:moveTo>
                    <a:pt x="0" y="1011557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40405" y="0"/>
                  </a:lnTo>
                  <a:lnTo>
                    <a:pt x="3244037" y="0"/>
                  </a:lnTo>
                  <a:lnTo>
                    <a:pt x="3247618" y="355"/>
                  </a:lnTo>
                  <a:lnTo>
                    <a:pt x="3251174" y="1054"/>
                  </a:lnTo>
                  <a:lnTo>
                    <a:pt x="3254743" y="1765"/>
                  </a:lnTo>
                  <a:lnTo>
                    <a:pt x="3258197" y="2819"/>
                  </a:lnTo>
                  <a:lnTo>
                    <a:pt x="3261537" y="4203"/>
                  </a:lnTo>
                  <a:lnTo>
                    <a:pt x="3264903" y="5588"/>
                  </a:lnTo>
                  <a:lnTo>
                    <a:pt x="3268078" y="7289"/>
                  </a:lnTo>
                  <a:lnTo>
                    <a:pt x="3271088" y="9309"/>
                  </a:lnTo>
                  <a:lnTo>
                    <a:pt x="3274110" y="11328"/>
                  </a:lnTo>
                  <a:lnTo>
                    <a:pt x="3276904" y="13614"/>
                  </a:lnTo>
                  <a:lnTo>
                    <a:pt x="3279470" y="16179"/>
                  </a:lnTo>
                  <a:lnTo>
                    <a:pt x="3282035" y="18745"/>
                  </a:lnTo>
                  <a:lnTo>
                    <a:pt x="3294583" y="44462"/>
                  </a:lnTo>
                  <a:lnTo>
                    <a:pt x="3295294" y="48018"/>
                  </a:lnTo>
                  <a:lnTo>
                    <a:pt x="3295650" y="51612"/>
                  </a:lnTo>
                  <a:lnTo>
                    <a:pt x="3295650" y="55245"/>
                  </a:lnTo>
                  <a:lnTo>
                    <a:pt x="3295650" y="1011557"/>
                  </a:lnTo>
                  <a:lnTo>
                    <a:pt x="3295650" y="1015183"/>
                  </a:lnTo>
                  <a:lnTo>
                    <a:pt x="3295294" y="1018774"/>
                  </a:lnTo>
                  <a:lnTo>
                    <a:pt x="3294583" y="1022332"/>
                  </a:lnTo>
                  <a:lnTo>
                    <a:pt x="3293884" y="1025889"/>
                  </a:lnTo>
                  <a:lnTo>
                    <a:pt x="3279470" y="1050618"/>
                  </a:lnTo>
                  <a:lnTo>
                    <a:pt x="3276904" y="1053184"/>
                  </a:lnTo>
                  <a:lnTo>
                    <a:pt x="3261537" y="1062595"/>
                  </a:lnTo>
                  <a:lnTo>
                    <a:pt x="3258197" y="1063979"/>
                  </a:lnTo>
                  <a:lnTo>
                    <a:pt x="3254743" y="1065030"/>
                  </a:lnTo>
                  <a:lnTo>
                    <a:pt x="3251174" y="1065735"/>
                  </a:lnTo>
                  <a:lnTo>
                    <a:pt x="3247618" y="1066444"/>
                  </a:lnTo>
                  <a:lnTo>
                    <a:pt x="3244037" y="1066797"/>
                  </a:lnTo>
                  <a:lnTo>
                    <a:pt x="3240405" y="1066797"/>
                  </a:lnTo>
                  <a:lnTo>
                    <a:pt x="55245" y="1066797"/>
                  </a:lnTo>
                  <a:lnTo>
                    <a:pt x="51612" y="1066797"/>
                  </a:lnTo>
                  <a:lnTo>
                    <a:pt x="48018" y="1066444"/>
                  </a:lnTo>
                  <a:lnTo>
                    <a:pt x="44462" y="1065735"/>
                  </a:lnTo>
                  <a:lnTo>
                    <a:pt x="40906" y="1065030"/>
                  </a:lnTo>
                  <a:lnTo>
                    <a:pt x="16179" y="1050618"/>
                  </a:lnTo>
                  <a:lnTo>
                    <a:pt x="13614" y="1048054"/>
                  </a:lnTo>
                  <a:lnTo>
                    <a:pt x="4203" y="1032695"/>
                  </a:lnTo>
                  <a:lnTo>
                    <a:pt x="2819" y="1029341"/>
                  </a:lnTo>
                  <a:lnTo>
                    <a:pt x="1765" y="1025889"/>
                  </a:lnTo>
                  <a:lnTo>
                    <a:pt x="1066" y="1022332"/>
                  </a:lnTo>
                  <a:lnTo>
                    <a:pt x="355" y="1018774"/>
                  </a:lnTo>
                  <a:lnTo>
                    <a:pt x="0" y="1015183"/>
                  </a:lnTo>
                  <a:lnTo>
                    <a:pt x="0" y="1011557"/>
                  </a:lnTo>
                  <a:close/>
                </a:path>
              </a:pathLst>
            </a:custGeom>
            <a:ln w="9525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7698972" y="4838781"/>
            <a:ext cx="1866900" cy="7042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40995" algn="l"/>
              </a:tabLst>
            </a:pPr>
            <a:r>
              <a:rPr dirty="0" sz="1750" spc="-840">
                <a:latin typeface="Times New Roman"/>
                <a:cs typeface="Times New Roman"/>
              </a:rPr>
              <a:t>{</a:t>
            </a:r>
            <a:r>
              <a:rPr dirty="0" sz="1750">
                <a:latin typeface="Times New Roman"/>
                <a:cs typeface="Times New Roman"/>
              </a:rPr>
              <a:t>	</a:t>
            </a:r>
            <a:r>
              <a:rPr dirty="0" sz="1650" spc="180">
                <a:solidFill>
                  <a:srgbClr val="44413F"/>
                </a:solidFill>
                <a:latin typeface="Cambria"/>
                <a:cs typeface="Cambria"/>
              </a:rPr>
              <a:t>Loyal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dirty="0" sz="1350" spc="-75">
                <a:solidFill>
                  <a:srgbClr val="44413F"/>
                </a:solidFill>
                <a:latin typeface="Lucida Sans Unicode"/>
                <a:cs typeface="Lucida Sans Unicode"/>
              </a:rPr>
              <a:t>High-</a:t>
            </a:r>
            <a:r>
              <a:rPr dirty="0" sz="1350" spc="-20">
                <a:solidFill>
                  <a:srgbClr val="44413F"/>
                </a:solidFill>
                <a:latin typeface="Lucida Sans Unicode"/>
                <a:cs typeface="Lucida Sans Unicode"/>
              </a:rPr>
              <a:t>frequency</a:t>
            </a:r>
            <a:r>
              <a:rPr dirty="0" sz="1350" spc="1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buyers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17" name="object 17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50458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2159000"/>
            <a:ext cx="47472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325"/>
              <a:t>Product</a:t>
            </a:r>
            <a:r>
              <a:rPr dirty="0" spc="240"/>
              <a:t> </a:t>
            </a:r>
            <a:r>
              <a:rPr dirty="0" spc="345"/>
              <a:t>Performance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659" y="3048096"/>
            <a:ext cx="447456" cy="44720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30312" y="3040062"/>
            <a:ext cx="2534285" cy="1179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10">
                <a:solidFill>
                  <a:srgbClr val="44413F"/>
                </a:solidFill>
                <a:latin typeface="Cambria"/>
                <a:cs typeface="Cambria"/>
              </a:rPr>
              <a:t>Top</a:t>
            </a:r>
            <a:r>
              <a:rPr dirty="0" sz="1650" spc="13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44413F"/>
                </a:solidFill>
                <a:latin typeface="Cambria"/>
                <a:cs typeface="Cambria"/>
              </a:rPr>
              <a:t>5</a:t>
            </a:r>
            <a:r>
              <a:rPr dirty="0" sz="1650" spc="13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200">
                <a:solidFill>
                  <a:srgbClr val="44413F"/>
                </a:solidFill>
                <a:latin typeface="Cambria"/>
                <a:cs typeface="Cambria"/>
              </a:rPr>
              <a:t>by</a:t>
            </a:r>
            <a:r>
              <a:rPr dirty="0" sz="1650" spc="8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65">
                <a:solidFill>
                  <a:srgbClr val="44413F"/>
                </a:solidFill>
                <a:latin typeface="Cambria"/>
                <a:cs typeface="Cambria"/>
              </a:rPr>
              <a:t>Rating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Products</a:t>
            </a:r>
            <a:r>
              <a:rPr dirty="0" sz="1350" spc="-9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with</a:t>
            </a:r>
            <a:r>
              <a:rPr dirty="0" sz="1350" spc="-8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the</a:t>
            </a:r>
            <a:r>
              <a:rPr dirty="0" sz="1350" spc="-8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highest </a:t>
            </a:r>
            <a:r>
              <a:rPr dirty="0" sz="1350" spc="-35">
                <a:solidFill>
                  <a:srgbClr val="44413F"/>
                </a:solidFill>
                <a:latin typeface="Lucida Sans Unicode"/>
                <a:cs typeface="Lucida Sans Unicode"/>
              </a:rPr>
              <a:t>average</a:t>
            </a:r>
            <a:r>
              <a:rPr dirty="0" sz="1350" spc="-7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44413F"/>
                </a:solidFill>
                <a:latin typeface="Lucida Sans Unicode"/>
                <a:cs typeface="Lucida Sans Unicode"/>
              </a:rPr>
              <a:t>review</a:t>
            </a:r>
            <a:r>
              <a:rPr dirty="0" sz="1350" spc="-6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ratings</a:t>
            </a:r>
            <a:r>
              <a:rPr dirty="0" sz="1350" spc="-6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surfaced </a:t>
            </a:r>
            <a:r>
              <a:rPr dirty="0" sz="1350" spc="-20">
                <a:solidFill>
                  <a:srgbClr val="44413F"/>
                </a:solidFill>
                <a:latin typeface="Lucida Sans Unicode"/>
                <a:cs typeface="Lucida Sans Unicode"/>
              </a:rPr>
              <a:t>via</a:t>
            </a:r>
            <a:r>
              <a:rPr dirty="0" sz="1350" spc="-8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SQL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128970" y="3047991"/>
            <a:ext cx="343535" cy="447675"/>
            <a:chOff x="4128970" y="3047991"/>
            <a:chExt cx="343535" cy="44767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2914" y="3415288"/>
              <a:ext cx="89386" cy="8034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28970" y="3405902"/>
              <a:ext cx="71804" cy="89742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4139984" y="3057486"/>
              <a:ext cx="322580" cy="429259"/>
            </a:xfrm>
            <a:custGeom>
              <a:avLst/>
              <a:gdLst/>
              <a:ahLst/>
              <a:cxnLst/>
              <a:rect l="l" t="t" r="r" b="b"/>
              <a:pathLst>
                <a:path w="322579" h="429260">
                  <a:moveTo>
                    <a:pt x="297522" y="115036"/>
                  </a:moveTo>
                  <a:lnTo>
                    <a:pt x="23075" y="114896"/>
                  </a:lnTo>
                </a:path>
                <a:path w="322579" h="429260">
                  <a:moveTo>
                    <a:pt x="84734" y="123418"/>
                  </a:moveTo>
                  <a:lnTo>
                    <a:pt x="84620" y="71501"/>
                  </a:lnTo>
                </a:path>
                <a:path w="322579" h="429260">
                  <a:moveTo>
                    <a:pt x="84734" y="123418"/>
                  </a:moveTo>
                  <a:lnTo>
                    <a:pt x="84912" y="165582"/>
                  </a:lnTo>
                </a:path>
                <a:path w="322579" h="429260">
                  <a:moveTo>
                    <a:pt x="297522" y="115036"/>
                  </a:moveTo>
                  <a:lnTo>
                    <a:pt x="322122" y="367296"/>
                  </a:lnTo>
                </a:path>
                <a:path w="322579" h="429260">
                  <a:moveTo>
                    <a:pt x="84594" y="71501"/>
                  </a:moveTo>
                  <a:lnTo>
                    <a:pt x="91592" y="43738"/>
                  </a:lnTo>
                  <a:lnTo>
                    <a:pt x="93624" y="39370"/>
                  </a:lnTo>
                  <a:lnTo>
                    <a:pt x="96062" y="35242"/>
                  </a:lnTo>
                  <a:lnTo>
                    <a:pt x="98894" y="31343"/>
                  </a:lnTo>
                  <a:lnTo>
                    <a:pt x="101714" y="27432"/>
                  </a:lnTo>
                  <a:lnTo>
                    <a:pt x="104876" y="23837"/>
                  </a:lnTo>
                  <a:lnTo>
                    <a:pt x="108394" y="20548"/>
                  </a:lnTo>
                  <a:lnTo>
                    <a:pt x="111912" y="17246"/>
                  </a:lnTo>
                  <a:lnTo>
                    <a:pt x="115697" y="14312"/>
                  </a:lnTo>
                  <a:lnTo>
                    <a:pt x="119773" y="11747"/>
                  </a:lnTo>
                  <a:lnTo>
                    <a:pt x="123837" y="9169"/>
                  </a:lnTo>
                  <a:lnTo>
                    <a:pt x="128117" y="7010"/>
                  </a:lnTo>
                  <a:lnTo>
                    <a:pt x="132613" y="5257"/>
                  </a:lnTo>
                  <a:lnTo>
                    <a:pt x="137096" y="3492"/>
                  </a:lnTo>
                  <a:lnTo>
                    <a:pt x="141706" y="2184"/>
                  </a:lnTo>
                  <a:lnTo>
                    <a:pt x="146443" y="1308"/>
                  </a:lnTo>
                  <a:lnTo>
                    <a:pt x="151168" y="431"/>
                  </a:lnTo>
                  <a:lnTo>
                    <a:pt x="155956" y="0"/>
                  </a:lnTo>
                  <a:lnTo>
                    <a:pt x="160769" y="38"/>
                  </a:lnTo>
                  <a:lnTo>
                    <a:pt x="165582" y="76"/>
                  </a:lnTo>
                  <a:lnTo>
                    <a:pt x="170345" y="558"/>
                  </a:lnTo>
                  <a:lnTo>
                    <a:pt x="175069" y="1511"/>
                  </a:lnTo>
                  <a:lnTo>
                    <a:pt x="179793" y="2451"/>
                  </a:lnTo>
                  <a:lnTo>
                    <a:pt x="201587" y="12331"/>
                  </a:lnTo>
                  <a:lnTo>
                    <a:pt x="205625" y="14960"/>
                  </a:lnTo>
                  <a:lnTo>
                    <a:pt x="209372" y="17945"/>
                  </a:lnTo>
                  <a:lnTo>
                    <a:pt x="212839" y="21285"/>
                  </a:lnTo>
                  <a:lnTo>
                    <a:pt x="216306" y="24625"/>
                  </a:lnTo>
                  <a:lnTo>
                    <a:pt x="229311" y="44716"/>
                  </a:lnTo>
                  <a:lnTo>
                    <a:pt x="231292" y="49098"/>
                  </a:lnTo>
                  <a:lnTo>
                    <a:pt x="232829" y="53644"/>
                  </a:lnTo>
                  <a:lnTo>
                    <a:pt x="233946" y="58331"/>
                  </a:lnTo>
                  <a:lnTo>
                    <a:pt x="235051" y="63017"/>
                  </a:lnTo>
                  <a:lnTo>
                    <a:pt x="235712" y="67767"/>
                  </a:lnTo>
                  <a:lnTo>
                    <a:pt x="235915" y="72580"/>
                  </a:lnTo>
                </a:path>
                <a:path w="322579" h="429260">
                  <a:moveTo>
                    <a:pt x="235826" y="72580"/>
                  </a:moveTo>
                  <a:lnTo>
                    <a:pt x="236004" y="165582"/>
                  </a:lnTo>
                </a:path>
                <a:path w="322579" h="429260">
                  <a:moveTo>
                    <a:pt x="252425" y="428650"/>
                  </a:moveTo>
                  <a:lnTo>
                    <a:pt x="51295" y="428663"/>
                  </a:lnTo>
                </a:path>
                <a:path w="322579" h="429260">
                  <a:moveTo>
                    <a:pt x="0" y="357911"/>
                  </a:moveTo>
                  <a:lnTo>
                    <a:pt x="23075" y="114896"/>
                  </a:lnTo>
                </a:path>
              </a:pathLst>
            </a:custGeom>
            <a:ln w="18990">
              <a:solidFill>
                <a:srgbClr val="AA83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4711700" y="3040062"/>
            <a:ext cx="2205355" cy="1179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10">
                <a:solidFill>
                  <a:srgbClr val="44413F"/>
                </a:solidFill>
                <a:latin typeface="Cambria"/>
                <a:cs typeface="Cambria"/>
              </a:rPr>
              <a:t>Top</a:t>
            </a:r>
            <a:r>
              <a:rPr dirty="0" sz="1650" spc="12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14">
                <a:solidFill>
                  <a:srgbClr val="44413F"/>
                </a:solidFill>
                <a:latin typeface="Cambria"/>
                <a:cs typeface="Cambria"/>
              </a:rPr>
              <a:t>3</a:t>
            </a:r>
            <a:r>
              <a:rPr dirty="0" sz="1650" spc="12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65">
                <a:solidFill>
                  <a:srgbClr val="44413F"/>
                </a:solidFill>
                <a:latin typeface="Cambria"/>
                <a:cs typeface="Cambria"/>
              </a:rPr>
              <a:t>per</a:t>
            </a:r>
            <a:r>
              <a:rPr dirty="0" sz="1650" spc="8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80">
                <a:solidFill>
                  <a:srgbClr val="44413F"/>
                </a:solidFill>
                <a:latin typeface="Cambria"/>
                <a:cs typeface="Cambria"/>
              </a:rPr>
              <a:t>Category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20">
                <a:solidFill>
                  <a:srgbClr val="44413F"/>
                </a:solidFill>
                <a:latin typeface="Lucida Sans Unicode"/>
                <a:cs typeface="Lucida Sans Unicode"/>
              </a:rPr>
              <a:t>Most</a:t>
            </a:r>
            <a:r>
              <a:rPr dirty="0" sz="1350" spc="-6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44413F"/>
                </a:solidFill>
                <a:latin typeface="Lucida Sans Unicode"/>
                <a:cs typeface="Lucida Sans Unicode"/>
              </a:rPr>
              <a:t>purchased</a:t>
            </a:r>
            <a:r>
              <a:rPr dirty="0" sz="1350" spc="-6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products </a:t>
            </a:r>
            <a:r>
              <a:rPr dirty="0" sz="1350" spc="-55">
                <a:solidFill>
                  <a:srgbClr val="44413F"/>
                </a:solidFill>
                <a:latin typeface="Lucida Sans Unicode"/>
                <a:cs typeface="Lucida Sans Unicode"/>
              </a:rPr>
              <a:t>ranked</a:t>
            </a:r>
            <a:r>
              <a:rPr dirty="0" sz="1350" spc="-6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within</a:t>
            </a:r>
            <a:r>
              <a:rPr dirty="0" sz="1350" spc="-6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each</a:t>
            </a:r>
            <a:r>
              <a:rPr dirty="0" sz="1350" spc="-6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product category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7562850" y="3129826"/>
            <a:ext cx="428625" cy="284480"/>
          </a:xfrm>
          <a:custGeom>
            <a:avLst/>
            <a:gdLst/>
            <a:ahLst/>
            <a:cxnLst/>
            <a:rect l="l" t="t" r="r" b="b"/>
            <a:pathLst>
              <a:path w="428625" h="284479">
                <a:moveTo>
                  <a:pt x="420141" y="231203"/>
                </a:moveTo>
                <a:lnTo>
                  <a:pt x="428612" y="214490"/>
                </a:lnTo>
                <a:lnTo>
                  <a:pt x="428625" y="199644"/>
                </a:lnTo>
              </a:path>
              <a:path w="428625" h="284479">
                <a:moveTo>
                  <a:pt x="428510" y="159880"/>
                </a:moveTo>
                <a:lnTo>
                  <a:pt x="420966" y="137680"/>
                </a:lnTo>
                <a:lnTo>
                  <a:pt x="413931" y="126580"/>
                </a:lnTo>
              </a:path>
              <a:path w="428625" h="284479">
                <a:moveTo>
                  <a:pt x="369836" y="57924"/>
                </a:moveTo>
                <a:lnTo>
                  <a:pt x="350291" y="45745"/>
                </a:lnTo>
                <a:lnTo>
                  <a:pt x="339991" y="45631"/>
                </a:lnTo>
              </a:path>
              <a:path w="428625" h="284479">
                <a:moveTo>
                  <a:pt x="393496" y="235661"/>
                </a:moveTo>
                <a:lnTo>
                  <a:pt x="393128" y="229946"/>
                </a:lnTo>
                <a:lnTo>
                  <a:pt x="391731" y="224510"/>
                </a:lnTo>
                <a:lnTo>
                  <a:pt x="389293" y="219341"/>
                </a:lnTo>
                <a:lnTo>
                  <a:pt x="386867" y="214160"/>
                </a:lnTo>
                <a:lnTo>
                  <a:pt x="383565" y="209613"/>
                </a:lnTo>
                <a:lnTo>
                  <a:pt x="379412" y="205701"/>
                </a:lnTo>
                <a:lnTo>
                  <a:pt x="375246" y="201777"/>
                </a:lnTo>
                <a:lnTo>
                  <a:pt x="370509" y="198755"/>
                </a:lnTo>
                <a:lnTo>
                  <a:pt x="365201" y="196634"/>
                </a:lnTo>
                <a:lnTo>
                  <a:pt x="359892" y="194513"/>
                </a:lnTo>
                <a:lnTo>
                  <a:pt x="354380" y="193446"/>
                </a:lnTo>
                <a:lnTo>
                  <a:pt x="348665" y="193421"/>
                </a:lnTo>
                <a:lnTo>
                  <a:pt x="342950" y="193395"/>
                </a:lnTo>
                <a:lnTo>
                  <a:pt x="337426" y="194411"/>
                </a:lnTo>
                <a:lnTo>
                  <a:pt x="332092" y="196494"/>
                </a:lnTo>
                <a:lnTo>
                  <a:pt x="326771" y="198564"/>
                </a:lnTo>
                <a:lnTo>
                  <a:pt x="303872" y="229552"/>
                </a:lnTo>
                <a:lnTo>
                  <a:pt x="303466" y="235254"/>
                </a:lnTo>
              </a:path>
              <a:path w="428625" h="284479">
                <a:moveTo>
                  <a:pt x="393065" y="235699"/>
                </a:moveTo>
                <a:lnTo>
                  <a:pt x="393306" y="238785"/>
                </a:lnTo>
                <a:lnTo>
                  <a:pt x="393217" y="241871"/>
                </a:lnTo>
                <a:lnTo>
                  <a:pt x="392811" y="244944"/>
                </a:lnTo>
                <a:lnTo>
                  <a:pt x="392417" y="248018"/>
                </a:lnTo>
                <a:lnTo>
                  <a:pt x="391706" y="251028"/>
                </a:lnTo>
                <a:lnTo>
                  <a:pt x="390677" y="253949"/>
                </a:lnTo>
                <a:lnTo>
                  <a:pt x="389648" y="256882"/>
                </a:lnTo>
                <a:lnTo>
                  <a:pt x="388327" y="259676"/>
                </a:lnTo>
                <a:lnTo>
                  <a:pt x="386727" y="262331"/>
                </a:lnTo>
                <a:lnTo>
                  <a:pt x="385127" y="264985"/>
                </a:lnTo>
                <a:lnTo>
                  <a:pt x="383273" y="267449"/>
                </a:lnTo>
                <a:lnTo>
                  <a:pt x="381152" y="269722"/>
                </a:lnTo>
                <a:lnTo>
                  <a:pt x="379044" y="271983"/>
                </a:lnTo>
                <a:lnTo>
                  <a:pt x="376720" y="274015"/>
                </a:lnTo>
                <a:lnTo>
                  <a:pt x="374180" y="275805"/>
                </a:lnTo>
                <a:lnTo>
                  <a:pt x="371652" y="277596"/>
                </a:lnTo>
                <a:lnTo>
                  <a:pt x="368960" y="279107"/>
                </a:lnTo>
                <a:lnTo>
                  <a:pt x="366102" y="280327"/>
                </a:lnTo>
                <a:lnTo>
                  <a:pt x="363258" y="281571"/>
                </a:lnTo>
                <a:lnTo>
                  <a:pt x="360311" y="282486"/>
                </a:lnTo>
                <a:lnTo>
                  <a:pt x="357276" y="283121"/>
                </a:lnTo>
                <a:lnTo>
                  <a:pt x="354241" y="283730"/>
                </a:lnTo>
                <a:lnTo>
                  <a:pt x="351167" y="284035"/>
                </a:lnTo>
                <a:lnTo>
                  <a:pt x="348068" y="284022"/>
                </a:lnTo>
                <a:lnTo>
                  <a:pt x="344970" y="284010"/>
                </a:lnTo>
                <a:lnTo>
                  <a:pt x="322033" y="275551"/>
                </a:lnTo>
                <a:lnTo>
                  <a:pt x="319519" y="273748"/>
                </a:lnTo>
                <a:lnTo>
                  <a:pt x="317207" y="271691"/>
                </a:lnTo>
                <a:lnTo>
                  <a:pt x="315125" y="269405"/>
                </a:lnTo>
                <a:lnTo>
                  <a:pt x="313029" y="267106"/>
                </a:lnTo>
                <a:lnTo>
                  <a:pt x="305752" y="253542"/>
                </a:lnTo>
                <a:lnTo>
                  <a:pt x="304749" y="250609"/>
                </a:lnTo>
                <a:lnTo>
                  <a:pt x="304063" y="247599"/>
                </a:lnTo>
                <a:lnTo>
                  <a:pt x="303695" y="244525"/>
                </a:lnTo>
                <a:lnTo>
                  <a:pt x="303314" y="241439"/>
                </a:lnTo>
                <a:lnTo>
                  <a:pt x="303263" y="238353"/>
                </a:lnTo>
                <a:lnTo>
                  <a:pt x="303530" y="235267"/>
                </a:lnTo>
              </a:path>
              <a:path w="428625" h="284479">
                <a:moveTo>
                  <a:pt x="144005" y="235140"/>
                </a:moveTo>
                <a:lnTo>
                  <a:pt x="129489" y="205435"/>
                </a:lnTo>
                <a:lnTo>
                  <a:pt x="125298" y="201574"/>
                </a:lnTo>
                <a:lnTo>
                  <a:pt x="120535" y="198602"/>
                </a:lnTo>
                <a:lnTo>
                  <a:pt x="115227" y="196519"/>
                </a:lnTo>
                <a:lnTo>
                  <a:pt x="109905" y="194449"/>
                </a:lnTo>
                <a:lnTo>
                  <a:pt x="104394" y="193408"/>
                </a:lnTo>
                <a:lnTo>
                  <a:pt x="98691" y="193421"/>
                </a:lnTo>
                <a:lnTo>
                  <a:pt x="92976" y="193421"/>
                </a:lnTo>
                <a:lnTo>
                  <a:pt x="87477" y="194462"/>
                </a:lnTo>
                <a:lnTo>
                  <a:pt x="82156" y="196545"/>
                </a:lnTo>
                <a:lnTo>
                  <a:pt x="76847" y="198615"/>
                </a:lnTo>
                <a:lnTo>
                  <a:pt x="72085" y="201587"/>
                </a:lnTo>
                <a:lnTo>
                  <a:pt x="67894" y="205460"/>
                </a:lnTo>
                <a:lnTo>
                  <a:pt x="63703" y="209334"/>
                </a:lnTo>
                <a:lnTo>
                  <a:pt x="60350" y="213842"/>
                </a:lnTo>
                <a:lnTo>
                  <a:pt x="57848" y="218960"/>
                </a:lnTo>
                <a:lnTo>
                  <a:pt x="55359" y="224091"/>
                </a:lnTo>
                <a:lnTo>
                  <a:pt x="53873" y="229514"/>
                </a:lnTo>
                <a:lnTo>
                  <a:pt x="53416" y="235191"/>
                </a:lnTo>
              </a:path>
              <a:path w="428625" h="284479">
                <a:moveTo>
                  <a:pt x="144183" y="235127"/>
                </a:moveTo>
                <a:lnTo>
                  <a:pt x="144437" y="238239"/>
                </a:lnTo>
                <a:lnTo>
                  <a:pt x="144360" y="241350"/>
                </a:lnTo>
                <a:lnTo>
                  <a:pt x="143967" y="244449"/>
                </a:lnTo>
                <a:lnTo>
                  <a:pt x="143586" y="247535"/>
                </a:lnTo>
                <a:lnTo>
                  <a:pt x="142875" y="250571"/>
                </a:lnTo>
                <a:lnTo>
                  <a:pt x="141859" y="253517"/>
                </a:lnTo>
                <a:lnTo>
                  <a:pt x="140843" y="256463"/>
                </a:lnTo>
                <a:lnTo>
                  <a:pt x="139547" y="259283"/>
                </a:lnTo>
                <a:lnTo>
                  <a:pt x="137934" y="261962"/>
                </a:lnTo>
                <a:lnTo>
                  <a:pt x="136347" y="264642"/>
                </a:lnTo>
                <a:lnTo>
                  <a:pt x="125387" y="275590"/>
                </a:lnTo>
                <a:lnTo>
                  <a:pt x="122847" y="277406"/>
                </a:lnTo>
                <a:lnTo>
                  <a:pt x="108419" y="283044"/>
                </a:lnTo>
                <a:lnTo>
                  <a:pt x="105359" y="283692"/>
                </a:lnTo>
                <a:lnTo>
                  <a:pt x="102273" y="284010"/>
                </a:lnTo>
                <a:lnTo>
                  <a:pt x="99148" y="284022"/>
                </a:lnTo>
                <a:lnTo>
                  <a:pt x="96037" y="284022"/>
                </a:lnTo>
                <a:lnTo>
                  <a:pt x="92938" y="283705"/>
                </a:lnTo>
                <a:lnTo>
                  <a:pt x="89890" y="283070"/>
                </a:lnTo>
                <a:lnTo>
                  <a:pt x="86829" y="282435"/>
                </a:lnTo>
                <a:lnTo>
                  <a:pt x="83870" y="281495"/>
                </a:lnTo>
                <a:lnTo>
                  <a:pt x="81013" y="280238"/>
                </a:lnTo>
                <a:lnTo>
                  <a:pt x="78155" y="278993"/>
                </a:lnTo>
                <a:lnTo>
                  <a:pt x="56375" y="253619"/>
                </a:lnTo>
                <a:lnTo>
                  <a:pt x="55346" y="250672"/>
                </a:lnTo>
                <a:lnTo>
                  <a:pt x="54635" y="247650"/>
                </a:lnTo>
                <a:lnTo>
                  <a:pt x="54241" y="244551"/>
                </a:lnTo>
                <a:lnTo>
                  <a:pt x="53835" y="241465"/>
                </a:lnTo>
                <a:lnTo>
                  <a:pt x="53771" y="238353"/>
                </a:lnTo>
                <a:lnTo>
                  <a:pt x="54013" y="235242"/>
                </a:lnTo>
              </a:path>
              <a:path w="428625" h="284479">
                <a:moveTo>
                  <a:pt x="420357" y="231711"/>
                </a:moveTo>
                <a:lnTo>
                  <a:pt x="413928" y="233886"/>
                </a:lnTo>
                <a:lnTo>
                  <a:pt x="407385" y="235173"/>
                </a:lnTo>
                <a:lnTo>
                  <a:pt x="400731" y="235578"/>
                </a:lnTo>
                <a:lnTo>
                  <a:pt x="393966" y="235102"/>
                </a:lnTo>
              </a:path>
              <a:path w="428625" h="284479">
                <a:moveTo>
                  <a:pt x="303263" y="235242"/>
                </a:moveTo>
                <a:lnTo>
                  <a:pt x="144513" y="235102"/>
                </a:lnTo>
              </a:path>
              <a:path w="428625" h="284479">
                <a:moveTo>
                  <a:pt x="272415" y="11887"/>
                </a:moveTo>
                <a:lnTo>
                  <a:pt x="274650" y="235140"/>
                </a:lnTo>
              </a:path>
              <a:path w="428625" h="284479">
                <a:moveTo>
                  <a:pt x="14846" y="234327"/>
                </a:moveTo>
                <a:lnTo>
                  <a:pt x="53403" y="235191"/>
                </a:lnTo>
              </a:path>
              <a:path w="428625" h="284479">
                <a:moveTo>
                  <a:pt x="14846" y="234327"/>
                </a:moveTo>
                <a:lnTo>
                  <a:pt x="0" y="219760"/>
                </a:lnTo>
                <a:lnTo>
                  <a:pt x="165" y="14655"/>
                </a:lnTo>
                <a:lnTo>
                  <a:pt x="258330" y="0"/>
                </a:lnTo>
                <a:lnTo>
                  <a:pt x="259295" y="254"/>
                </a:lnTo>
                <a:lnTo>
                  <a:pt x="271475" y="10033"/>
                </a:lnTo>
                <a:lnTo>
                  <a:pt x="272415" y="11887"/>
                </a:lnTo>
              </a:path>
              <a:path w="428625" h="284479">
                <a:moveTo>
                  <a:pt x="428625" y="199644"/>
                </a:moveTo>
                <a:lnTo>
                  <a:pt x="428510" y="159880"/>
                </a:lnTo>
              </a:path>
              <a:path w="428625" h="284479">
                <a:moveTo>
                  <a:pt x="413931" y="126580"/>
                </a:moveTo>
                <a:lnTo>
                  <a:pt x="369836" y="57924"/>
                </a:lnTo>
              </a:path>
              <a:path w="428625" h="284479">
                <a:moveTo>
                  <a:pt x="339991" y="45631"/>
                </a:moveTo>
                <a:lnTo>
                  <a:pt x="274662" y="45631"/>
                </a:lnTo>
              </a:path>
            </a:pathLst>
          </a:custGeom>
          <a:ln w="19024">
            <a:solidFill>
              <a:srgbClr val="AA83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8193087" y="3040062"/>
            <a:ext cx="2585085" cy="1179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00">
                <a:solidFill>
                  <a:srgbClr val="44413F"/>
                </a:solidFill>
                <a:latin typeface="Cambria"/>
                <a:cs typeface="Cambria"/>
              </a:rPr>
              <a:t>Shipping</a:t>
            </a:r>
            <a:r>
              <a:rPr dirty="0" sz="1650" spc="114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200">
                <a:solidFill>
                  <a:srgbClr val="44413F"/>
                </a:solidFill>
                <a:latin typeface="Cambria"/>
                <a:cs typeface="Cambria"/>
              </a:rPr>
              <a:t>Comparison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Express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0">
                <a:solidFill>
                  <a:srgbClr val="44413F"/>
                </a:solidFill>
                <a:latin typeface="Lucida Sans Unicode"/>
                <a:cs typeface="Lucida Sans Unicode"/>
              </a:rPr>
              <a:t>vs.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44413F"/>
                </a:solidFill>
                <a:latin typeface="Lucida Sans Unicode"/>
                <a:cs typeface="Lucida Sans Unicode"/>
              </a:rPr>
              <a:t>Standard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44413F"/>
                </a:solidFill>
                <a:latin typeface="Lucida Sans Unicode"/>
                <a:cs typeface="Lucida Sans Unicode"/>
              </a:rPr>
              <a:t>shipping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270">
                <a:solidFill>
                  <a:srgbClr val="44413F"/>
                </a:solidFill>
                <a:latin typeface="Lucida Sans Unicode"/>
                <a:cs typeface="Lucida Sans Unicode"/>
              </a:rPr>
              <a:t>4 </a:t>
            </a:r>
            <a:r>
              <a:rPr dirty="0" sz="1350" spc="-35">
                <a:solidFill>
                  <a:srgbClr val="44413F"/>
                </a:solidFill>
                <a:latin typeface="Lucida Sans Unicode"/>
                <a:cs typeface="Lucida Sans Unicode"/>
              </a:rPr>
              <a:t>average</a:t>
            </a:r>
            <a:r>
              <a:rPr dirty="0" sz="1350" spc="-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purchase</a:t>
            </a:r>
            <a:r>
              <a:rPr dirty="0" sz="1350" spc="-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amounts compared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12" name="object 12" descr="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75"/>
              <a:t>Power</a:t>
            </a:r>
            <a:r>
              <a:rPr dirty="0" spc="145"/>
              <a:t> </a:t>
            </a:r>
            <a:r>
              <a:rPr dirty="0" spc="405"/>
              <a:t>BI</a:t>
            </a:r>
            <a:r>
              <a:rPr dirty="0" spc="235"/>
              <a:t> </a:t>
            </a:r>
            <a:r>
              <a:rPr dirty="0" spc="335"/>
              <a:t>Dashboard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87375" y="3136264"/>
            <a:ext cx="5453380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20">
                <a:solidFill>
                  <a:srgbClr val="44413F"/>
                </a:solidFill>
                <a:latin typeface="Lucida Sans Unicode"/>
                <a:cs typeface="Lucida Sans Unicode"/>
              </a:rPr>
              <a:t>Interactive</a:t>
            </a:r>
            <a:r>
              <a:rPr dirty="0" sz="1350" spc="-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44413F"/>
                </a:solidFill>
                <a:latin typeface="Lucida Sans Unicode"/>
                <a:cs typeface="Lucida Sans Unicode"/>
              </a:rPr>
              <a:t>dashboard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44413F"/>
                </a:solidFill>
                <a:latin typeface="Lucida Sans Unicode"/>
                <a:cs typeface="Lucida Sans Unicode"/>
              </a:rPr>
              <a:t>built </a:t>
            </a: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to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44413F"/>
                </a:solidFill>
                <a:latin typeface="Lucida Sans Unicode"/>
                <a:cs typeface="Lucida Sans Unicode"/>
              </a:rPr>
              <a:t>present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44413F"/>
                </a:solidFill>
                <a:latin typeface="Lucida Sans Unicode"/>
                <a:cs typeface="Lucida Sans Unicode"/>
              </a:rPr>
              <a:t>all</a:t>
            </a:r>
            <a:r>
              <a:rPr dirty="0" sz="1350" spc="-50">
                <a:solidFill>
                  <a:srgbClr val="44413F"/>
                </a:solidFill>
                <a:latin typeface="Lucida Sans Unicode"/>
                <a:cs typeface="Lucida Sans Unicode"/>
              </a:rPr>
              <a:t> insights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visually</a:t>
            </a:r>
            <a:r>
              <a:rPr dirty="0" sz="1350" spc="-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320">
                <a:solidFill>
                  <a:srgbClr val="44413F"/>
                </a:solidFill>
                <a:latin typeface="Lucida Sans Unicode"/>
                <a:cs typeface="Lucida Sans Unicode"/>
              </a:rPr>
              <a:t>4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enabling 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stakeholders</a:t>
            </a:r>
            <a:r>
              <a:rPr dirty="0" sz="1350" spc="-5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to</a:t>
            </a:r>
            <a:r>
              <a:rPr dirty="0" sz="1350" spc="-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44413F"/>
                </a:solidFill>
                <a:latin typeface="Lucida Sans Unicode"/>
                <a:cs typeface="Lucida Sans Unicode"/>
              </a:rPr>
              <a:t>explore 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segments,</a:t>
            </a:r>
            <a:r>
              <a:rPr dirty="0" sz="1350" spc="-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44413F"/>
                </a:solidFill>
                <a:latin typeface="Lucida Sans Unicode"/>
                <a:cs typeface="Lucida Sans Unicode"/>
              </a:rPr>
              <a:t>revenue</a:t>
            </a:r>
            <a:r>
              <a:rPr dirty="0" sz="1350" spc="-5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trends,</a:t>
            </a:r>
            <a:r>
              <a:rPr dirty="0" sz="1350" spc="-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and</a:t>
            </a:r>
            <a:r>
              <a:rPr dirty="0" sz="1350" spc="-5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product 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performance</a:t>
            </a:r>
            <a:r>
              <a:rPr dirty="0" sz="1350" spc="-7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at</a:t>
            </a:r>
            <a:r>
              <a:rPr dirty="0" sz="1350" spc="-7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a</a:t>
            </a:r>
            <a:r>
              <a:rPr dirty="0" sz="1350" spc="-7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glance.</a:t>
            </a:r>
            <a:endParaRPr sz="13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0483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125"/>
              </a:spcBef>
            </a:pPr>
            <a:r>
              <a:rPr dirty="0" spc="260"/>
              <a:t>Business</a:t>
            </a:r>
            <a:r>
              <a:rPr dirty="0" spc="250"/>
              <a:t> </a:t>
            </a:r>
            <a:r>
              <a:rPr dirty="0" spc="385"/>
              <a:t>Recommendations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00074" y="1781174"/>
            <a:ext cx="3295650" cy="1790700"/>
            <a:chOff x="600074" y="1781174"/>
            <a:chExt cx="3295650" cy="1790700"/>
          </a:xfrm>
        </p:grpSpPr>
        <p:sp>
          <p:nvSpPr>
            <p:cNvPr id="4" name="object 4" descr=""/>
            <p:cNvSpPr/>
            <p:nvPr/>
          </p:nvSpPr>
          <p:spPr>
            <a:xfrm>
              <a:off x="609600" y="2038349"/>
              <a:ext cx="3276600" cy="1524000"/>
            </a:xfrm>
            <a:custGeom>
              <a:avLst/>
              <a:gdLst/>
              <a:ahLst/>
              <a:cxnLst/>
              <a:rect l="l" t="t" r="r" b="b"/>
              <a:pathLst>
                <a:path w="3276600" h="1524000">
                  <a:moveTo>
                    <a:pt x="3214306" y="0"/>
                  </a:moveTo>
                  <a:lnTo>
                    <a:pt x="62299" y="0"/>
                  </a:lnTo>
                  <a:lnTo>
                    <a:pt x="57964" y="482"/>
                  </a:lnTo>
                  <a:lnTo>
                    <a:pt x="22622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473517"/>
                  </a:lnTo>
                  <a:lnTo>
                    <a:pt x="0" y="1476832"/>
                  </a:lnTo>
                  <a:lnTo>
                    <a:pt x="17129" y="1511554"/>
                  </a:lnTo>
                  <a:lnTo>
                    <a:pt x="47169" y="1524000"/>
                  </a:lnTo>
                  <a:lnTo>
                    <a:pt x="3229432" y="1524000"/>
                  </a:lnTo>
                  <a:lnTo>
                    <a:pt x="3264154" y="1506867"/>
                  </a:lnTo>
                  <a:lnTo>
                    <a:pt x="3275622" y="1483360"/>
                  </a:lnTo>
                  <a:lnTo>
                    <a:pt x="3276282" y="1480121"/>
                  </a:lnTo>
                  <a:lnTo>
                    <a:pt x="3276600" y="1476832"/>
                  </a:lnTo>
                  <a:lnTo>
                    <a:pt x="3276600" y="71196"/>
                  </a:lnTo>
                  <a:lnTo>
                    <a:pt x="3262934" y="29705"/>
                  </a:lnTo>
                  <a:lnTo>
                    <a:pt x="3231400" y="3886"/>
                  </a:lnTo>
                  <a:lnTo>
                    <a:pt x="3218637" y="482"/>
                  </a:lnTo>
                  <a:lnTo>
                    <a:pt x="3214306" y="0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0062" y="2039200"/>
              <a:ext cx="3295650" cy="1532890"/>
            </a:xfrm>
            <a:custGeom>
              <a:avLst/>
              <a:gdLst/>
              <a:ahLst/>
              <a:cxnLst/>
              <a:rect l="l" t="t" r="r" b="b"/>
              <a:pathLst>
                <a:path w="3295650" h="1532889">
                  <a:moveTo>
                    <a:pt x="3295650" y="75361"/>
                  </a:moveTo>
                  <a:lnTo>
                    <a:pt x="3282823" y="33020"/>
                  </a:lnTo>
                  <a:lnTo>
                    <a:pt x="3248609" y="4965"/>
                  </a:lnTo>
                  <a:lnTo>
                    <a:pt x="3230219" y="0"/>
                  </a:lnTo>
                  <a:lnTo>
                    <a:pt x="3234321" y="1092"/>
                  </a:lnTo>
                  <a:lnTo>
                    <a:pt x="3248317" y="8826"/>
                  </a:lnTo>
                  <a:lnTo>
                    <a:pt x="3272244" y="46202"/>
                  </a:lnTo>
                  <a:lnTo>
                    <a:pt x="3276600" y="75361"/>
                  </a:lnTo>
                  <a:lnTo>
                    <a:pt x="3276600" y="1472679"/>
                  </a:lnTo>
                  <a:lnTo>
                    <a:pt x="3264090" y="1502067"/>
                  </a:lnTo>
                  <a:lnTo>
                    <a:pt x="3258299" y="1506880"/>
                  </a:lnTo>
                  <a:lnTo>
                    <a:pt x="3251377" y="1510626"/>
                  </a:lnTo>
                  <a:lnTo>
                    <a:pt x="3243821" y="1512874"/>
                  </a:lnTo>
                  <a:lnTo>
                    <a:pt x="3235642" y="1513636"/>
                  </a:lnTo>
                  <a:lnTo>
                    <a:pt x="60007" y="1513636"/>
                  </a:lnTo>
                  <a:lnTo>
                    <a:pt x="51841" y="1512874"/>
                  </a:lnTo>
                  <a:lnTo>
                    <a:pt x="44284" y="1510626"/>
                  </a:lnTo>
                  <a:lnTo>
                    <a:pt x="37363" y="1506880"/>
                  </a:lnTo>
                  <a:lnTo>
                    <a:pt x="31559" y="1502079"/>
                  </a:lnTo>
                  <a:lnTo>
                    <a:pt x="31051" y="1501648"/>
                  </a:lnTo>
                  <a:lnTo>
                    <a:pt x="25806" y="1495323"/>
                  </a:lnTo>
                  <a:lnTo>
                    <a:pt x="22059" y="1488389"/>
                  </a:lnTo>
                  <a:lnTo>
                    <a:pt x="19812" y="1480845"/>
                  </a:lnTo>
                  <a:lnTo>
                    <a:pt x="19050" y="1472679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480642"/>
                  </a:lnTo>
                  <a:lnTo>
                    <a:pt x="1524" y="1488287"/>
                  </a:lnTo>
                  <a:lnTo>
                    <a:pt x="7620" y="1502994"/>
                  </a:lnTo>
                  <a:lnTo>
                    <a:pt x="11950" y="1509483"/>
                  </a:lnTo>
                  <a:lnTo>
                    <a:pt x="17805" y="1515338"/>
                  </a:lnTo>
                  <a:lnTo>
                    <a:pt x="23202" y="1520736"/>
                  </a:lnTo>
                  <a:lnTo>
                    <a:pt x="29692" y="1525066"/>
                  </a:lnTo>
                  <a:lnTo>
                    <a:pt x="44399" y="1531162"/>
                  </a:lnTo>
                  <a:lnTo>
                    <a:pt x="52057" y="1532686"/>
                  </a:lnTo>
                  <a:lnTo>
                    <a:pt x="3243605" y="1532686"/>
                  </a:lnTo>
                  <a:lnTo>
                    <a:pt x="3251250" y="1531162"/>
                  </a:lnTo>
                  <a:lnTo>
                    <a:pt x="3265957" y="1525066"/>
                  </a:lnTo>
                  <a:lnTo>
                    <a:pt x="3272447" y="1520736"/>
                  </a:lnTo>
                  <a:lnTo>
                    <a:pt x="3277603" y="1515579"/>
                  </a:lnTo>
                  <a:lnTo>
                    <a:pt x="3278073" y="1515110"/>
                  </a:lnTo>
                  <a:lnTo>
                    <a:pt x="3283699" y="1509483"/>
                  </a:lnTo>
                  <a:lnTo>
                    <a:pt x="3288030" y="1502994"/>
                  </a:lnTo>
                  <a:lnTo>
                    <a:pt x="3294088" y="1488389"/>
                  </a:lnTo>
                  <a:lnTo>
                    <a:pt x="3295612" y="1480845"/>
                  </a:lnTo>
                  <a:lnTo>
                    <a:pt x="3295650" y="75361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00075" y="1781174"/>
              <a:ext cx="3295650" cy="514350"/>
            </a:xfrm>
            <a:custGeom>
              <a:avLst/>
              <a:gdLst/>
              <a:ahLst/>
              <a:cxnLst/>
              <a:rect l="l" t="t" r="r" b="b"/>
              <a:pathLst>
                <a:path w="3295650" h="514350">
                  <a:moveTo>
                    <a:pt x="3295650" y="294195"/>
                  </a:moveTo>
                  <a:lnTo>
                    <a:pt x="3280867" y="258483"/>
                  </a:lnTo>
                  <a:lnTo>
                    <a:pt x="3243491" y="238506"/>
                  </a:lnTo>
                  <a:lnTo>
                    <a:pt x="3239579" y="238125"/>
                  </a:lnTo>
                  <a:lnTo>
                    <a:pt x="1904365" y="238125"/>
                  </a:lnTo>
                  <a:lnTo>
                    <a:pt x="1902942" y="223583"/>
                  </a:lnTo>
                  <a:lnTo>
                    <a:pt x="1891487" y="174459"/>
                  </a:lnTo>
                  <a:lnTo>
                    <a:pt x="1870659" y="128511"/>
                  </a:lnTo>
                  <a:lnTo>
                    <a:pt x="1841284" y="87515"/>
                  </a:lnTo>
                  <a:lnTo>
                    <a:pt x="1804466" y="53035"/>
                  </a:lnTo>
                  <a:lnTo>
                    <a:pt x="1761629" y="26403"/>
                  </a:lnTo>
                  <a:lnTo>
                    <a:pt x="1714423" y="8623"/>
                  </a:lnTo>
                  <a:lnTo>
                    <a:pt x="1664652" y="406"/>
                  </a:lnTo>
                  <a:lnTo>
                    <a:pt x="1656245" y="0"/>
                  </a:lnTo>
                  <a:lnTo>
                    <a:pt x="1639404" y="0"/>
                  </a:lnTo>
                  <a:lnTo>
                    <a:pt x="1589392" y="6578"/>
                  </a:lnTo>
                  <a:lnTo>
                    <a:pt x="1541627" y="22796"/>
                  </a:lnTo>
                  <a:lnTo>
                    <a:pt x="1497939" y="48018"/>
                  </a:lnTo>
                  <a:lnTo>
                    <a:pt x="1460017" y="81280"/>
                  </a:lnTo>
                  <a:lnTo>
                    <a:pt x="1429308" y="121297"/>
                  </a:lnTo>
                  <a:lnTo>
                    <a:pt x="1407007" y="166535"/>
                  </a:lnTo>
                  <a:lnTo>
                    <a:pt x="1393952" y="215265"/>
                  </a:lnTo>
                  <a:lnTo>
                    <a:pt x="1391272" y="238125"/>
                  </a:lnTo>
                  <a:lnTo>
                    <a:pt x="56057" y="238125"/>
                  </a:lnTo>
                  <a:lnTo>
                    <a:pt x="20358" y="252920"/>
                  </a:lnTo>
                  <a:lnTo>
                    <a:pt x="381" y="290283"/>
                  </a:lnTo>
                  <a:lnTo>
                    <a:pt x="0" y="294195"/>
                  </a:lnTo>
                  <a:lnTo>
                    <a:pt x="0" y="314325"/>
                  </a:lnTo>
                  <a:lnTo>
                    <a:pt x="1396961" y="314325"/>
                  </a:lnTo>
                  <a:lnTo>
                    <a:pt x="1397228" y="315607"/>
                  </a:lnTo>
                  <a:lnTo>
                    <a:pt x="1413446" y="363372"/>
                  </a:lnTo>
                  <a:lnTo>
                    <a:pt x="1438668" y="407060"/>
                  </a:lnTo>
                  <a:lnTo>
                    <a:pt x="1471930" y="444982"/>
                  </a:lnTo>
                  <a:lnTo>
                    <a:pt x="1511947" y="475691"/>
                  </a:lnTo>
                  <a:lnTo>
                    <a:pt x="1557185" y="497992"/>
                  </a:lnTo>
                  <a:lnTo>
                    <a:pt x="1605915" y="511048"/>
                  </a:lnTo>
                  <a:lnTo>
                    <a:pt x="1639404" y="514350"/>
                  </a:lnTo>
                  <a:lnTo>
                    <a:pt x="1656245" y="514350"/>
                  </a:lnTo>
                  <a:lnTo>
                    <a:pt x="1706257" y="507758"/>
                  </a:lnTo>
                  <a:lnTo>
                    <a:pt x="1754022" y="491553"/>
                  </a:lnTo>
                  <a:lnTo>
                    <a:pt x="1797710" y="466331"/>
                  </a:lnTo>
                  <a:lnTo>
                    <a:pt x="1835632" y="433070"/>
                  </a:lnTo>
                  <a:lnTo>
                    <a:pt x="1866341" y="393052"/>
                  </a:lnTo>
                  <a:lnTo>
                    <a:pt x="1888655" y="347802"/>
                  </a:lnTo>
                  <a:lnTo>
                    <a:pt x="1898675" y="314325"/>
                  </a:lnTo>
                  <a:lnTo>
                    <a:pt x="3295650" y="314325"/>
                  </a:lnTo>
                  <a:lnTo>
                    <a:pt x="3295650" y="294195"/>
                  </a:lnTo>
                  <a:close/>
                </a:path>
              </a:pathLst>
            </a:custGeom>
            <a:solidFill>
              <a:srgbClr val="B78D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2189213" y="1877060"/>
            <a:ext cx="117475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-120">
                <a:latin typeface="Cambria"/>
                <a:cs typeface="Cambria"/>
              </a:rPr>
              <a:t>1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77875" y="2449512"/>
            <a:ext cx="2360295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65">
                <a:solidFill>
                  <a:srgbClr val="44413F"/>
                </a:solidFill>
                <a:latin typeface="Cambria"/>
                <a:cs typeface="Cambria"/>
              </a:rPr>
              <a:t>Boost</a:t>
            </a:r>
            <a:r>
              <a:rPr dirty="0" sz="1650" spc="140">
                <a:solidFill>
                  <a:srgbClr val="44413F"/>
                </a:solidFill>
                <a:latin typeface="Cambria"/>
                <a:cs typeface="Cambria"/>
              </a:rPr>
              <a:t> Subscriptions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dirty="0" sz="1350" spc="-30">
                <a:solidFill>
                  <a:srgbClr val="44413F"/>
                </a:solidFill>
                <a:latin typeface="Lucida Sans Unicode"/>
                <a:cs typeface="Lucida Sans Unicode"/>
              </a:rPr>
              <a:t>Promote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exclusive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44413F"/>
                </a:solidFill>
                <a:latin typeface="Lucida Sans Unicode"/>
                <a:cs typeface="Lucida Sans Unicode"/>
              </a:rPr>
              <a:t>subscriber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benefits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067174" y="1781174"/>
            <a:ext cx="3295650" cy="1790700"/>
            <a:chOff x="4067174" y="1781174"/>
            <a:chExt cx="3295650" cy="1790700"/>
          </a:xfrm>
        </p:grpSpPr>
        <p:sp>
          <p:nvSpPr>
            <p:cNvPr id="10" name="object 10" descr=""/>
            <p:cNvSpPr/>
            <p:nvPr/>
          </p:nvSpPr>
          <p:spPr>
            <a:xfrm>
              <a:off x="4076699" y="2038349"/>
              <a:ext cx="3276600" cy="1524000"/>
            </a:xfrm>
            <a:custGeom>
              <a:avLst/>
              <a:gdLst/>
              <a:ahLst/>
              <a:cxnLst/>
              <a:rect l="l" t="t" r="r" b="b"/>
              <a:pathLst>
                <a:path w="3276600" h="1524000">
                  <a:moveTo>
                    <a:pt x="3214306" y="0"/>
                  </a:moveTo>
                  <a:lnTo>
                    <a:pt x="62293" y="0"/>
                  </a:lnTo>
                  <a:lnTo>
                    <a:pt x="57962" y="482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473517"/>
                  </a:lnTo>
                  <a:lnTo>
                    <a:pt x="0" y="1476832"/>
                  </a:lnTo>
                  <a:lnTo>
                    <a:pt x="17132" y="1511554"/>
                  </a:lnTo>
                  <a:lnTo>
                    <a:pt x="47167" y="1524000"/>
                  </a:lnTo>
                  <a:lnTo>
                    <a:pt x="3229432" y="1524000"/>
                  </a:lnTo>
                  <a:lnTo>
                    <a:pt x="3264154" y="1506867"/>
                  </a:lnTo>
                  <a:lnTo>
                    <a:pt x="3275622" y="1483360"/>
                  </a:lnTo>
                  <a:lnTo>
                    <a:pt x="3276282" y="1480121"/>
                  </a:lnTo>
                  <a:lnTo>
                    <a:pt x="3276600" y="1476832"/>
                  </a:lnTo>
                  <a:lnTo>
                    <a:pt x="3276600" y="71196"/>
                  </a:lnTo>
                  <a:lnTo>
                    <a:pt x="3262934" y="29705"/>
                  </a:lnTo>
                  <a:lnTo>
                    <a:pt x="3231400" y="3886"/>
                  </a:lnTo>
                  <a:lnTo>
                    <a:pt x="3218637" y="482"/>
                  </a:lnTo>
                  <a:lnTo>
                    <a:pt x="3214306" y="0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067162" y="2039200"/>
              <a:ext cx="3295650" cy="1532890"/>
            </a:xfrm>
            <a:custGeom>
              <a:avLst/>
              <a:gdLst/>
              <a:ahLst/>
              <a:cxnLst/>
              <a:rect l="l" t="t" r="r" b="b"/>
              <a:pathLst>
                <a:path w="3295650" h="1532889">
                  <a:moveTo>
                    <a:pt x="3295650" y="75361"/>
                  </a:moveTo>
                  <a:lnTo>
                    <a:pt x="3282823" y="33020"/>
                  </a:lnTo>
                  <a:lnTo>
                    <a:pt x="3248609" y="4965"/>
                  </a:lnTo>
                  <a:lnTo>
                    <a:pt x="3230207" y="0"/>
                  </a:lnTo>
                  <a:lnTo>
                    <a:pt x="3234321" y="1092"/>
                  </a:lnTo>
                  <a:lnTo>
                    <a:pt x="3248317" y="8826"/>
                  </a:lnTo>
                  <a:lnTo>
                    <a:pt x="3272244" y="46202"/>
                  </a:lnTo>
                  <a:lnTo>
                    <a:pt x="3276600" y="75361"/>
                  </a:lnTo>
                  <a:lnTo>
                    <a:pt x="3276600" y="1472679"/>
                  </a:lnTo>
                  <a:lnTo>
                    <a:pt x="3264090" y="1502067"/>
                  </a:lnTo>
                  <a:lnTo>
                    <a:pt x="3258299" y="1506880"/>
                  </a:lnTo>
                  <a:lnTo>
                    <a:pt x="3251377" y="1510626"/>
                  </a:lnTo>
                  <a:lnTo>
                    <a:pt x="3243821" y="1512874"/>
                  </a:lnTo>
                  <a:lnTo>
                    <a:pt x="3235642" y="1513636"/>
                  </a:lnTo>
                  <a:lnTo>
                    <a:pt x="60007" y="1513636"/>
                  </a:lnTo>
                  <a:lnTo>
                    <a:pt x="51841" y="1512874"/>
                  </a:lnTo>
                  <a:lnTo>
                    <a:pt x="44284" y="1510626"/>
                  </a:lnTo>
                  <a:lnTo>
                    <a:pt x="37363" y="1506880"/>
                  </a:lnTo>
                  <a:lnTo>
                    <a:pt x="31559" y="1502079"/>
                  </a:lnTo>
                  <a:lnTo>
                    <a:pt x="31051" y="1501648"/>
                  </a:lnTo>
                  <a:lnTo>
                    <a:pt x="25806" y="1495323"/>
                  </a:lnTo>
                  <a:lnTo>
                    <a:pt x="22059" y="1488389"/>
                  </a:lnTo>
                  <a:lnTo>
                    <a:pt x="19812" y="1480845"/>
                  </a:lnTo>
                  <a:lnTo>
                    <a:pt x="19050" y="1472679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480642"/>
                  </a:lnTo>
                  <a:lnTo>
                    <a:pt x="1524" y="1488287"/>
                  </a:lnTo>
                  <a:lnTo>
                    <a:pt x="7607" y="1502994"/>
                  </a:lnTo>
                  <a:lnTo>
                    <a:pt x="11950" y="1509483"/>
                  </a:lnTo>
                  <a:lnTo>
                    <a:pt x="17805" y="1515338"/>
                  </a:lnTo>
                  <a:lnTo>
                    <a:pt x="23202" y="1520736"/>
                  </a:lnTo>
                  <a:lnTo>
                    <a:pt x="29692" y="1525066"/>
                  </a:lnTo>
                  <a:lnTo>
                    <a:pt x="44399" y="1531162"/>
                  </a:lnTo>
                  <a:lnTo>
                    <a:pt x="52044" y="1532686"/>
                  </a:lnTo>
                  <a:lnTo>
                    <a:pt x="3243605" y="1532686"/>
                  </a:lnTo>
                  <a:lnTo>
                    <a:pt x="3251250" y="1531162"/>
                  </a:lnTo>
                  <a:lnTo>
                    <a:pt x="3265957" y="1525066"/>
                  </a:lnTo>
                  <a:lnTo>
                    <a:pt x="3272447" y="1520736"/>
                  </a:lnTo>
                  <a:lnTo>
                    <a:pt x="3277603" y="1515579"/>
                  </a:lnTo>
                  <a:lnTo>
                    <a:pt x="3278073" y="1515110"/>
                  </a:lnTo>
                  <a:lnTo>
                    <a:pt x="3283699" y="1509483"/>
                  </a:lnTo>
                  <a:lnTo>
                    <a:pt x="3288030" y="1502994"/>
                  </a:lnTo>
                  <a:lnTo>
                    <a:pt x="3294088" y="1488389"/>
                  </a:lnTo>
                  <a:lnTo>
                    <a:pt x="3295612" y="1480845"/>
                  </a:lnTo>
                  <a:lnTo>
                    <a:pt x="3295650" y="75361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067175" y="1781174"/>
              <a:ext cx="3295650" cy="514350"/>
            </a:xfrm>
            <a:custGeom>
              <a:avLst/>
              <a:gdLst/>
              <a:ahLst/>
              <a:cxnLst/>
              <a:rect l="l" t="t" r="r" b="b"/>
              <a:pathLst>
                <a:path w="3295650" h="514350">
                  <a:moveTo>
                    <a:pt x="3295650" y="294195"/>
                  </a:moveTo>
                  <a:lnTo>
                    <a:pt x="3280854" y="258483"/>
                  </a:lnTo>
                  <a:lnTo>
                    <a:pt x="3243491" y="238506"/>
                  </a:lnTo>
                  <a:lnTo>
                    <a:pt x="3239579" y="238125"/>
                  </a:lnTo>
                  <a:lnTo>
                    <a:pt x="1904365" y="238125"/>
                  </a:lnTo>
                  <a:lnTo>
                    <a:pt x="1902942" y="223583"/>
                  </a:lnTo>
                  <a:lnTo>
                    <a:pt x="1891474" y="174459"/>
                  </a:lnTo>
                  <a:lnTo>
                    <a:pt x="1870659" y="128511"/>
                  </a:lnTo>
                  <a:lnTo>
                    <a:pt x="1841284" y="87515"/>
                  </a:lnTo>
                  <a:lnTo>
                    <a:pt x="1804466" y="53035"/>
                  </a:lnTo>
                  <a:lnTo>
                    <a:pt x="1761617" y="26403"/>
                  </a:lnTo>
                  <a:lnTo>
                    <a:pt x="1714411" y="8623"/>
                  </a:lnTo>
                  <a:lnTo>
                    <a:pt x="1664652" y="406"/>
                  </a:lnTo>
                  <a:lnTo>
                    <a:pt x="1656245" y="0"/>
                  </a:lnTo>
                  <a:lnTo>
                    <a:pt x="1639404" y="0"/>
                  </a:lnTo>
                  <a:lnTo>
                    <a:pt x="1589392" y="6578"/>
                  </a:lnTo>
                  <a:lnTo>
                    <a:pt x="1541627" y="22796"/>
                  </a:lnTo>
                  <a:lnTo>
                    <a:pt x="1497926" y="48018"/>
                  </a:lnTo>
                  <a:lnTo>
                    <a:pt x="1460017" y="81280"/>
                  </a:lnTo>
                  <a:lnTo>
                    <a:pt x="1429296" y="121297"/>
                  </a:lnTo>
                  <a:lnTo>
                    <a:pt x="1407007" y="166535"/>
                  </a:lnTo>
                  <a:lnTo>
                    <a:pt x="1393952" y="215265"/>
                  </a:lnTo>
                  <a:lnTo>
                    <a:pt x="1391272" y="238125"/>
                  </a:lnTo>
                  <a:lnTo>
                    <a:pt x="56070" y="238125"/>
                  </a:lnTo>
                  <a:lnTo>
                    <a:pt x="20358" y="252920"/>
                  </a:lnTo>
                  <a:lnTo>
                    <a:pt x="381" y="290283"/>
                  </a:lnTo>
                  <a:lnTo>
                    <a:pt x="0" y="294195"/>
                  </a:lnTo>
                  <a:lnTo>
                    <a:pt x="0" y="314325"/>
                  </a:lnTo>
                  <a:lnTo>
                    <a:pt x="1396961" y="314325"/>
                  </a:lnTo>
                  <a:lnTo>
                    <a:pt x="1397228" y="315607"/>
                  </a:lnTo>
                  <a:lnTo>
                    <a:pt x="1413446" y="363372"/>
                  </a:lnTo>
                  <a:lnTo>
                    <a:pt x="1438668" y="407060"/>
                  </a:lnTo>
                  <a:lnTo>
                    <a:pt x="1471930" y="444982"/>
                  </a:lnTo>
                  <a:lnTo>
                    <a:pt x="1511947" y="475691"/>
                  </a:lnTo>
                  <a:lnTo>
                    <a:pt x="1557185" y="497992"/>
                  </a:lnTo>
                  <a:lnTo>
                    <a:pt x="1605915" y="511048"/>
                  </a:lnTo>
                  <a:lnTo>
                    <a:pt x="1639404" y="514350"/>
                  </a:lnTo>
                  <a:lnTo>
                    <a:pt x="1656245" y="514350"/>
                  </a:lnTo>
                  <a:lnTo>
                    <a:pt x="1706257" y="507758"/>
                  </a:lnTo>
                  <a:lnTo>
                    <a:pt x="1754022" y="491553"/>
                  </a:lnTo>
                  <a:lnTo>
                    <a:pt x="1797710" y="466331"/>
                  </a:lnTo>
                  <a:lnTo>
                    <a:pt x="1835632" y="433070"/>
                  </a:lnTo>
                  <a:lnTo>
                    <a:pt x="1866341" y="393052"/>
                  </a:lnTo>
                  <a:lnTo>
                    <a:pt x="1888655" y="347802"/>
                  </a:lnTo>
                  <a:lnTo>
                    <a:pt x="1898662" y="314325"/>
                  </a:lnTo>
                  <a:lnTo>
                    <a:pt x="3295650" y="314325"/>
                  </a:lnTo>
                  <a:lnTo>
                    <a:pt x="3295650" y="294195"/>
                  </a:lnTo>
                  <a:close/>
                </a:path>
              </a:pathLst>
            </a:custGeom>
            <a:solidFill>
              <a:srgbClr val="B78D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638901" y="1877060"/>
            <a:ext cx="152400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55">
                <a:latin typeface="Cambria"/>
                <a:cs typeface="Cambria"/>
              </a:rPr>
              <a:t>2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244975" y="2449512"/>
            <a:ext cx="2626995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80">
                <a:solidFill>
                  <a:srgbClr val="44413F"/>
                </a:solidFill>
                <a:latin typeface="Cambria"/>
                <a:cs typeface="Cambria"/>
              </a:rPr>
              <a:t>Loyalty</a:t>
            </a:r>
            <a:r>
              <a:rPr dirty="0" sz="1650" spc="8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70">
                <a:solidFill>
                  <a:srgbClr val="44413F"/>
                </a:solidFill>
                <a:latin typeface="Cambria"/>
                <a:cs typeface="Cambria"/>
              </a:rPr>
              <a:t>Programs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Reward</a:t>
            </a:r>
            <a:r>
              <a:rPr dirty="0" sz="1350" spc="-7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repeat</a:t>
            </a:r>
            <a:r>
              <a:rPr dirty="0" sz="1350" spc="-6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buyers</a:t>
            </a:r>
            <a:r>
              <a:rPr dirty="0" sz="1350" spc="-6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325">
                <a:solidFill>
                  <a:srgbClr val="44413F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7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move</a:t>
            </a:r>
            <a:r>
              <a:rPr dirty="0" sz="1350" spc="-6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to </a:t>
            </a:r>
            <a:r>
              <a:rPr dirty="0" sz="1350" spc="-65">
                <a:solidFill>
                  <a:srgbClr val="44413F"/>
                </a:solidFill>
                <a:latin typeface="Lucida Sans Unicode"/>
                <a:cs typeface="Lucida Sans Unicode"/>
              </a:rPr>
              <a:t>"Loyal"</a:t>
            </a:r>
            <a:r>
              <a:rPr dirty="0" sz="1350" spc="-6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segment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7534274" y="1781174"/>
            <a:ext cx="3295650" cy="1790700"/>
            <a:chOff x="7534274" y="1781174"/>
            <a:chExt cx="3295650" cy="1790700"/>
          </a:xfrm>
        </p:grpSpPr>
        <p:sp>
          <p:nvSpPr>
            <p:cNvPr id="16" name="object 16" descr=""/>
            <p:cNvSpPr/>
            <p:nvPr/>
          </p:nvSpPr>
          <p:spPr>
            <a:xfrm>
              <a:off x="7543799" y="2038349"/>
              <a:ext cx="3276600" cy="1524000"/>
            </a:xfrm>
            <a:custGeom>
              <a:avLst/>
              <a:gdLst/>
              <a:ahLst/>
              <a:cxnLst/>
              <a:rect l="l" t="t" r="r" b="b"/>
              <a:pathLst>
                <a:path w="3276600" h="1524000">
                  <a:moveTo>
                    <a:pt x="3214306" y="0"/>
                  </a:moveTo>
                  <a:lnTo>
                    <a:pt x="62293" y="0"/>
                  </a:lnTo>
                  <a:lnTo>
                    <a:pt x="57962" y="482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473517"/>
                  </a:lnTo>
                  <a:lnTo>
                    <a:pt x="0" y="1476832"/>
                  </a:lnTo>
                  <a:lnTo>
                    <a:pt x="17132" y="1511554"/>
                  </a:lnTo>
                  <a:lnTo>
                    <a:pt x="47167" y="1524000"/>
                  </a:lnTo>
                  <a:lnTo>
                    <a:pt x="3229432" y="1524000"/>
                  </a:lnTo>
                  <a:lnTo>
                    <a:pt x="3264154" y="1506867"/>
                  </a:lnTo>
                  <a:lnTo>
                    <a:pt x="3275622" y="1483360"/>
                  </a:lnTo>
                  <a:lnTo>
                    <a:pt x="3276282" y="1480121"/>
                  </a:lnTo>
                  <a:lnTo>
                    <a:pt x="3276600" y="1476832"/>
                  </a:lnTo>
                  <a:lnTo>
                    <a:pt x="3276600" y="71196"/>
                  </a:lnTo>
                  <a:lnTo>
                    <a:pt x="3262934" y="29705"/>
                  </a:lnTo>
                  <a:lnTo>
                    <a:pt x="3231400" y="3886"/>
                  </a:lnTo>
                  <a:lnTo>
                    <a:pt x="3218637" y="482"/>
                  </a:lnTo>
                  <a:lnTo>
                    <a:pt x="3214306" y="0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534262" y="2039200"/>
              <a:ext cx="3295650" cy="1532890"/>
            </a:xfrm>
            <a:custGeom>
              <a:avLst/>
              <a:gdLst/>
              <a:ahLst/>
              <a:cxnLst/>
              <a:rect l="l" t="t" r="r" b="b"/>
              <a:pathLst>
                <a:path w="3295650" h="1532889">
                  <a:moveTo>
                    <a:pt x="3295650" y="75361"/>
                  </a:moveTo>
                  <a:lnTo>
                    <a:pt x="3282823" y="33020"/>
                  </a:lnTo>
                  <a:lnTo>
                    <a:pt x="3248609" y="4965"/>
                  </a:lnTo>
                  <a:lnTo>
                    <a:pt x="3230207" y="0"/>
                  </a:lnTo>
                  <a:lnTo>
                    <a:pt x="3234321" y="1092"/>
                  </a:lnTo>
                  <a:lnTo>
                    <a:pt x="3248317" y="8826"/>
                  </a:lnTo>
                  <a:lnTo>
                    <a:pt x="3272244" y="46202"/>
                  </a:lnTo>
                  <a:lnTo>
                    <a:pt x="3276600" y="75361"/>
                  </a:lnTo>
                  <a:lnTo>
                    <a:pt x="3276600" y="1472679"/>
                  </a:lnTo>
                  <a:lnTo>
                    <a:pt x="3264090" y="1502067"/>
                  </a:lnTo>
                  <a:lnTo>
                    <a:pt x="3258299" y="1506880"/>
                  </a:lnTo>
                  <a:lnTo>
                    <a:pt x="3251377" y="1510626"/>
                  </a:lnTo>
                  <a:lnTo>
                    <a:pt x="3243821" y="1512874"/>
                  </a:lnTo>
                  <a:lnTo>
                    <a:pt x="3235642" y="1513636"/>
                  </a:lnTo>
                  <a:lnTo>
                    <a:pt x="60007" y="1513636"/>
                  </a:lnTo>
                  <a:lnTo>
                    <a:pt x="51841" y="1512874"/>
                  </a:lnTo>
                  <a:lnTo>
                    <a:pt x="44284" y="1510626"/>
                  </a:lnTo>
                  <a:lnTo>
                    <a:pt x="37363" y="1506880"/>
                  </a:lnTo>
                  <a:lnTo>
                    <a:pt x="31559" y="1502079"/>
                  </a:lnTo>
                  <a:lnTo>
                    <a:pt x="31051" y="1501648"/>
                  </a:lnTo>
                  <a:lnTo>
                    <a:pt x="25806" y="1495323"/>
                  </a:lnTo>
                  <a:lnTo>
                    <a:pt x="22059" y="1488389"/>
                  </a:lnTo>
                  <a:lnTo>
                    <a:pt x="19812" y="1480845"/>
                  </a:lnTo>
                  <a:lnTo>
                    <a:pt x="19050" y="1472679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480642"/>
                  </a:lnTo>
                  <a:lnTo>
                    <a:pt x="1524" y="1488287"/>
                  </a:lnTo>
                  <a:lnTo>
                    <a:pt x="7607" y="1502994"/>
                  </a:lnTo>
                  <a:lnTo>
                    <a:pt x="11950" y="1509483"/>
                  </a:lnTo>
                  <a:lnTo>
                    <a:pt x="17805" y="1515338"/>
                  </a:lnTo>
                  <a:lnTo>
                    <a:pt x="23202" y="1520736"/>
                  </a:lnTo>
                  <a:lnTo>
                    <a:pt x="29692" y="1525066"/>
                  </a:lnTo>
                  <a:lnTo>
                    <a:pt x="44399" y="1531162"/>
                  </a:lnTo>
                  <a:lnTo>
                    <a:pt x="52044" y="1532686"/>
                  </a:lnTo>
                  <a:lnTo>
                    <a:pt x="3243605" y="1532686"/>
                  </a:lnTo>
                  <a:lnTo>
                    <a:pt x="3251250" y="1531162"/>
                  </a:lnTo>
                  <a:lnTo>
                    <a:pt x="3265957" y="1525066"/>
                  </a:lnTo>
                  <a:lnTo>
                    <a:pt x="3272447" y="1520736"/>
                  </a:lnTo>
                  <a:lnTo>
                    <a:pt x="3277603" y="1515579"/>
                  </a:lnTo>
                  <a:lnTo>
                    <a:pt x="3278073" y="1515110"/>
                  </a:lnTo>
                  <a:lnTo>
                    <a:pt x="3283699" y="1509483"/>
                  </a:lnTo>
                  <a:lnTo>
                    <a:pt x="3288030" y="1502994"/>
                  </a:lnTo>
                  <a:lnTo>
                    <a:pt x="3294088" y="1488389"/>
                  </a:lnTo>
                  <a:lnTo>
                    <a:pt x="3295612" y="1480845"/>
                  </a:lnTo>
                  <a:lnTo>
                    <a:pt x="3295650" y="75361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534275" y="1781174"/>
              <a:ext cx="3295650" cy="514350"/>
            </a:xfrm>
            <a:custGeom>
              <a:avLst/>
              <a:gdLst/>
              <a:ahLst/>
              <a:cxnLst/>
              <a:rect l="l" t="t" r="r" b="b"/>
              <a:pathLst>
                <a:path w="3295650" h="514350">
                  <a:moveTo>
                    <a:pt x="3295650" y="294195"/>
                  </a:moveTo>
                  <a:lnTo>
                    <a:pt x="3280867" y="258483"/>
                  </a:lnTo>
                  <a:lnTo>
                    <a:pt x="3243491" y="238506"/>
                  </a:lnTo>
                  <a:lnTo>
                    <a:pt x="3239579" y="238125"/>
                  </a:lnTo>
                  <a:lnTo>
                    <a:pt x="1904365" y="238125"/>
                  </a:lnTo>
                  <a:lnTo>
                    <a:pt x="1902942" y="223583"/>
                  </a:lnTo>
                  <a:lnTo>
                    <a:pt x="1891487" y="174459"/>
                  </a:lnTo>
                  <a:lnTo>
                    <a:pt x="1870659" y="128511"/>
                  </a:lnTo>
                  <a:lnTo>
                    <a:pt x="1841284" y="87515"/>
                  </a:lnTo>
                  <a:lnTo>
                    <a:pt x="1804466" y="53035"/>
                  </a:lnTo>
                  <a:lnTo>
                    <a:pt x="1761629" y="26403"/>
                  </a:lnTo>
                  <a:lnTo>
                    <a:pt x="1714423" y="8623"/>
                  </a:lnTo>
                  <a:lnTo>
                    <a:pt x="1664652" y="406"/>
                  </a:lnTo>
                  <a:lnTo>
                    <a:pt x="1656245" y="0"/>
                  </a:lnTo>
                  <a:lnTo>
                    <a:pt x="1639404" y="0"/>
                  </a:lnTo>
                  <a:lnTo>
                    <a:pt x="1589392" y="6578"/>
                  </a:lnTo>
                  <a:lnTo>
                    <a:pt x="1541627" y="22796"/>
                  </a:lnTo>
                  <a:lnTo>
                    <a:pt x="1497939" y="48018"/>
                  </a:lnTo>
                  <a:lnTo>
                    <a:pt x="1460017" y="81280"/>
                  </a:lnTo>
                  <a:lnTo>
                    <a:pt x="1429308" y="121297"/>
                  </a:lnTo>
                  <a:lnTo>
                    <a:pt x="1407007" y="166535"/>
                  </a:lnTo>
                  <a:lnTo>
                    <a:pt x="1393952" y="215265"/>
                  </a:lnTo>
                  <a:lnTo>
                    <a:pt x="1391272" y="238125"/>
                  </a:lnTo>
                  <a:lnTo>
                    <a:pt x="56070" y="238125"/>
                  </a:lnTo>
                  <a:lnTo>
                    <a:pt x="20358" y="252920"/>
                  </a:lnTo>
                  <a:lnTo>
                    <a:pt x="381" y="290283"/>
                  </a:lnTo>
                  <a:lnTo>
                    <a:pt x="0" y="294195"/>
                  </a:lnTo>
                  <a:lnTo>
                    <a:pt x="0" y="314325"/>
                  </a:lnTo>
                  <a:lnTo>
                    <a:pt x="1396961" y="314325"/>
                  </a:lnTo>
                  <a:lnTo>
                    <a:pt x="1397228" y="315607"/>
                  </a:lnTo>
                  <a:lnTo>
                    <a:pt x="1413446" y="363372"/>
                  </a:lnTo>
                  <a:lnTo>
                    <a:pt x="1438668" y="407060"/>
                  </a:lnTo>
                  <a:lnTo>
                    <a:pt x="1471930" y="444982"/>
                  </a:lnTo>
                  <a:lnTo>
                    <a:pt x="1511947" y="475691"/>
                  </a:lnTo>
                  <a:lnTo>
                    <a:pt x="1557185" y="497992"/>
                  </a:lnTo>
                  <a:lnTo>
                    <a:pt x="1605915" y="511048"/>
                  </a:lnTo>
                  <a:lnTo>
                    <a:pt x="1639404" y="514350"/>
                  </a:lnTo>
                  <a:lnTo>
                    <a:pt x="1656245" y="514350"/>
                  </a:lnTo>
                  <a:lnTo>
                    <a:pt x="1706257" y="507758"/>
                  </a:lnTo>
                  <a:lnTo>
                    <a:pt x="1754022" y="491553"/>
                  </a:lnTo>
                  <a:lnTo>
                    <a:pt x="1797710" y="466331"/>
                  </a:lnTo>
                  <a:lnTo>
                    <a:pt x="1835632" y="433070"/>
                  </a:lnTo>
                  <a:lnTo>
                    <a:pt x="1866341" y="393052"/>
                  </a:lnTo>
                  <a:lnTo>
                    <a:pt x="1888655" y="347802"/>
                  </a:lnTo>
                  <a:lnTo>
                    <a:pt x="1898675" y="314325"/>
                  </a:lnTo>
                  <a:lnTo>
                    <a:pt x="3295650" y="314325"/>
                  </a:lnTo>
                  <a:lnTo>
                    <a:pt x="3295650" y="294195"/>
                  </a:lnTo>
                  <a:close/>
                </a:path>
              </a:pathLst>
            </a:custGeom>
            <a:solidFill>
              <a:srgbClr val="B78D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9106001" y="1877060"/>
            <a:ext cx="152400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55">
                <a:latin typeface="Cambria"/>
                <a:cs typeface="Cambria"/>
              </a:rPr>
              <a:t>3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712075" y="2449512"/>
            <a:ext cx="265811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65">
                <a:solidFill>
                  <a:srgbClr val="44413F"/>
                </a:solidFill>
                <a:latin typeface="Cambria"/>
                <a:cs typeface="Cambria"/>
              </a:rPr>
              <a:t>Review</a:t>
            </a:r>
            <a:r>
              <a:rPr dirty="0" sz="1650" spc="8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85">
                <a:solidFill>
                  <a:srgbClr val="44413F"/>
                </a:solidFill>
                <a:latin typeface="Cambria"/>
                <a:cs typeface="Cambria"/>
              </a:rPr>
              <a:t>Discount</a:t>
            </a:r>
            <a:r>
              <a:rPr dirty="0" sz="1650" spc="14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55">
                <a:solidFill>
                  <a:srgbClr val="44413F"/>
                </a:solidFill>
                <a:latin typeface="Cambria"/>
                <a:cs typeface="Cambria"/>
              </a:rPr>
              <a:t>Policy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Balance</a:t>
            </a:r>
            <a:r>
              <a:rPr dirty="0" sz="1350" spc="-7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sales</a:t>
            </a:r>
            <a:r>
              <a:rPr dirty="0" sz="1350" spc="-7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boosts</a:t>
            </a:r>
            <a:r>
              <a:rPr dirty="0" sz="1350" spc="-7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with</a:t>
            </a:r>
            <a:r>
              <a:rPr dirty="0" sz="1350" spc="-7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0">
                <a:solidFill>
                  <a:srgbClr val="44413F"/>
                </a:solidFill>
                <a:latin typeface="Lucida Sans Unicode"/>
                <a:cs typeface="Lucida Sans Unicode"/>
              </a:rPr>
              <a:t>margin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control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600074" y="3743325"/>
            <a:ext cx="5029200" cy="1800225"/>
            <a:chOff x="600074" y="3743325"/>
            <a:chExt cx="5029200" cy="1800225"/>
          </a:xfrm>
        </p:grpSpPr>
        <p:sp>
          <p:nvSpPr>
            <p:cNvPr id="22" name="object 22" descr=""/>
            <p:cNvSpPr/>
            <p:nvPr/>
          </p:nvSpPr>
          <p:spPr>
            <a:xfrm>
              <a:off x="609600" y="4000500"/>
              <a:ext cx="5010150" cy="1533525"/>
            </a:xfrm>
            <a:custGeom>
              <a:avLst/>
              <a:gdLst/>
              <a:ahLst/>
              <a:cxnLst/>
              <a:rect l="l" t="t" r="r" b="b"/>
              <a:pathLst>
                <a:path w="5010150" h="1533525">
                  <a:moveTo>
                    <a:pt x="4947856" y="0"/>
                  </a:moveTo>
                  <a:lnTo>
                    <a:pt x="62299" y="0"/>
                  </a:lnTo>
                  <a:lnTo>
                    <a:pt x="57964" y="482"/>
                  </a:lnTo>
                  <a:lnTo>
                    <a:pt x="22622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483043"/>
                  </a:lnTo>
                  <a:lnTo>
                    <a:pt x="0" y="1486357"/>
                  </a:lnTo>
                  <a:lnTo>
                    <a:pt x="17129" y="1521079"/>
                  </a:lnTo>
                  <a:lnTo>
                    <a:pt x="47169" y="1533521"/>
                  </a:lnTo>
                  <a:lnTo>
                    <a:pt x="4962982" y="1533521"/>
                  </a:lnTo>
                  <a:lnTo>
                    <a:pt x="4997704" y="1516395"/>
                  </a:lnTo>
                  <a:lnTo>
                    <a:pt x="5010150" y="1486357"/>
                  </a:lnTo>
                  <a:lnTo>
                    <a:pt x="5010150" y="71196"/>
                  </a:lnTo>
                  <a:lnTo>
                    <a:pt x="4996484" y="29705"/>
                  </a:lnTo>
                  <a:lnTo>
                    <a:pt x="4964950" y="3886"/>
                  </a:lnTo>
                  <a:lnTo>
                    <a:pt x="4952187" y="482"/>
                  </a:lnTo>
                  <a:lnTo>
                    <a:pt x="4947856" y="0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00062" y="4001350"/>
              <a:ext cx="5029200" cy="1542415"/>
            </a:xfrm>
            <a:custGeom>
              <a:avLst/>
              <a:gdLst/>
              <a:ahLst/>
              <a:cxnLst/>
              <a:rect l="l" t="t" r="r" b="b"/>
              <a:pathLst>
                <a:path w="5029200" h="1542414">
                  <a:moveTo>
                    <a:pt x="5029200" y="75361"/>
                  </a:moveTo>
                  <a:lnTo>
                    <a:pt x="5016373" y="33020"/>
                  </a:lnTo>
                  <a:lnTo>
                    <a:pt x="4982159" y="4965"/>
                  </a:lnTo>
                  <a:lnTo>
                    <a:pt x="4963769" y="0"/>
                  </a:lnTo>
                  <a:lnTo>
                    <a:pt x="4967871" y="1092"/>
                  </a:lnTo>
                  <a:lnTo>
                    <a:pt x="4981867" y="8826"/>
                  </a:lnTo>
                  <a:lnTo>
                    <a:pt x="5005794" y="46202"/>
                  </a:lnTo>
                  <a:lnTo>
                    <a:pt x="5010150" y="75361"/>
                  </a:lnTo>
                  <a:lnTo>
                    <a:pt x="5010150" y="1482204"/>
                  </a:lnTo>
                  <a:lnTo>
                    <a:pt x="4997640" y="1511592"/>
                  </a:lnTo>
                  <a:lnTo>
                    <a:pt x="4991849" y="1516405"/>
                  </a:lnTo>
                  <a:lnTo>
                    <a:pt x="4984928" y="1520151"/>
                  </a:lnTo>
                  <a:lnTo>
                    <a:pt x="4977371" y="1522412"/>
                  </a:lnTo>
                  <a:lnTo>
                    <a:pt x="4969192" y="1523161"/>
                  </a:lnTo>
                  <a:lnTo>
                    <a:pt x="60007" y="1523161"/>
                  </a:lnTo>
                  <a:lnTo>
                    <a:pt x="51841" y="1522412"/>
                  </a:lnTo>
                  <a:lnTo>
                    <a:pt x="44284" y="1520151"/>
                  </a:lnTo>
                  <a:lnTo>
                    <a:pt x="37363" y="1516405"/>
                  </a:lnTo>
                  <a:lnTo>
                    <a:pt x="31559" y="1511604"/>
                  </a:lnTo>
                  <a:lnTo>
                    <a:pt x="31051" y="1511160"/>
                  </a:lnTo>
                  <a:lnTo>
                    <a:pt x="25806" y="1504848"/>
                  </a:lnTo>
                  <a:lnTo>
                    <a:pt x="22059" y="1497914"/>
                  </a:lnTo>
                  <a:lnTo>
                    <a:pt x="19812" y="1490370"/>
                  </a:lnTo>
                  <a:lnTo>
                    <a:pt x="19050" y="1482204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490154"/>
                  </a:lnTo>
                  <a:lnTo>
                    <a:pt x="1524" y="1497812"/>
                  </a:lnTo>
                  <a:lnTo>
                    <a:pt x="7620" y="1512506"/>
                  </a:lnTo>
                  <a:lnTo>
                    <a:pt x="11950" y="1518996"/>
                  </a:lnTo>
                  <a:lnTo>
                    <a:pt x="17589" y="1524635"/>
                  </a:lnTo>
                  <a:lnTo>
                    <a:pt x="23202" y="1530261"/>
                  </a:lnTo>
                  <a:lnTo>
                    <a:pt x="29692" y="1534591"/>
                  </a:lnTo>
                  <a:lnTo>
                    <a:pt x="44399" y="1540675"/>
                  </a:lnTo>
                  <a:lnTo>
                    <a:pt x="52057" y="1542211"/>
                  </a:lnTo>
                  <a:lnTo>
                    <a:pt x="4977155" y="1542211"/>
                  </a:lnTo>
                  <a:lnTo>
                    <a:pt x="4984801" y="1540675"/>
                  </a:lnTo>
                  <a:lnTo>
                    <a:pt x="4999507" y="1534591"/>
                  </a:lnTo>
                  <a:lnTo>
                    <a:pt x="5005997" y="1530261"/>
                  </a:lnTo>
                  <a:lnTo>
                    <a:pt x="5011153" y="1525104"/>
                  </a:lnTo>
                  <a:lnTo>
                    <a:pt x="5011623" y="1524635"/>
                  </a:lnTo>
                  <a:lnTo>
                    <a:pt x="5017249" y="1518996"/>
                  </a:lnTo>
                  <a:lnTo>
                    <a:pt x="5021580" y="1512506"/>
                  </a:lnTo>
                  <a:lnTo>
                    <a:pt x="5027638" y="1497914"/>
                  </a:lnTo>
                  <a:lnTo>
                    <a:pt x="5029162" y="1490370"/>
                  </a:lnTo>
                  <a:lnTo>
                    <a:pt x="5029200" y="75361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00075" y="3743337"/>
              <a:ext cx="5029200" cy="514350"/>
            </a:xfrm>
            <a:custGeom>
              <a:avLst/>
              <a:gdLst/>
              <a:ahLst/>
              <a:cxnLst/>
              <a:rect l="l" t="t" r="r" b="b"/>
              <a:pathLst>
                <a:path w="5029200" h="514350">
                  <a:moveTo>
                    <a:pt x="5029200" y="294182"/>
                  </a:moveTo>
                  <a:lnTo>
                    <a:pt x="5014404" y="258470"/>
                  </a:lnTo>
                  <a:lnTo>
                    <a:pt x="4977041" y="238493"/>
                  </a:lnTo>
                  <a:lnTo>
                    <a:pt x="4973129" y="238112"/>
                  </a:lnTo>
                  <a:lnTo>
                    <a:pt x="2771140" y="238112"/>
                  </a:lnTo>
                  <a:lnTo>
                    <a:pt x="2769717" y="223570"/>
                  </a:lnTo>
                  <a:lnTo>
                    <a:pt x="2758262" y="174447"/>
                  </a:lnTo>
                  <a:lnTo>
                    <a:pt x="2737434" y="128498"/>
                  </a:lnTo>
                  <a:lnTo>
                    <a:pt x="2708059" y="87503"/>
                  </a:lnTo>
                  <a:lnTo>
                    <a:pt x="2671241" y="53022"/>
                  </a:lnTo>
                  <a:lnTo>
                    <a:pt x="2628404" y="26390"/>
                  </a:lnTo>
                  <a:lnTo>
                    <a:pt x="2581198" y="8610"/>
                  </a:lnTo>
                  <a:lnTo>
                    <a:pt x="2531427" y="393"/>
                  </a:lnTo>
                  <a:lnTo>
                    <a:pt x="2523020" y="0"/>
                  </a:lnTo>
                  <a:lnTo>
                    <a:pt x="2506180" y="0"/>
                  </a:lnTo>
                  <a:lnTo>
                    <a:pt x="2456154" y="6565"/>
                  </a:lnTo>
                  <a:lnTo>
                    <a:pt x="2408402" y="22783"/>
                  </a:lnTo>
                  <a:lnTo>
                    <a:pt x="2364714" y="48006"/>
                  </a:lnTo>
                  <a:lnTo>
                    <a:pt x="2326792" y="81280"/>
                  </a:lnTo>
                  <a:lnTo>
                    <a:pt x="2296083" y="121285"/>
                  </a:lnTo>
                  <a:lnTo>
                    <a:pt x="2273782" y="166522"/>
                  </a:lnTo>
                  <a:lnTo>
                    <a:pt x="2260727" y="215252"/>
                  </a:lnTo>
                  <a:lnTo>
                    <a:pt x="2258047" y="238112"/>
                  </a:lnTo>
                  <a:lnTo>
                    <a:pt x="56057" y="238112"/>
                  </a:lnTo>
                  <a:lnTo>
                    <a:pt x="20358" y="252907"/>
                  </a:lnTo>
                  <a:lnTo>
                    <a:pt x="381" y="290271"/>
                  </a:lnTo>
                  <a:lnTo>
                    <a:pt x="0" y="294182"/>
                  </a:lnTo>
                  <a:lnTo>
                    <a:pt x="0" y="314312"/>
                  </a:lnTo>
                  <a:lnTo>
                    <a:pt x="2263737" y="314312"/>
                  </a:lnTo>
                  <a:lnTo>
                    <a:pt x="2263991" y="315595"/>
                  </a:lnTo>
                  <a:lnTo>
                    <a:pt x="2280208" y="363359"/>
                  </a:lnTo>
                  <a:lnTo>
                    <a:pt x="2305443" y="407047"/>
                  </a:lnTo>
                  <a:lnTo>
                    <a:pt x="2338705" y="444969"/>
                  </a:lnTo>
                  <a:lnTo>
                    <a:pt x="2378722" y="475678"/>
                  </a:lnTo>
                  <a:lnTo>
                    <a:pt x="2423960" y="497979"/>
                  </a:lnTo>
                  <a:lnTo>
                    <a:pt x="2472690" y="511035"/>
                  </a:lnTo>
                  <a:lnTo>
                    <a:pt x="2506180" y="514337"/>
                  </a:lnTo>
                  <a:lnTo>
                    <a:pt x="2523020" y="514337"/>
                  </a:lnTo>
                  <a:lnTo>
                    <a:pt x="2573032" y="507746"/>
                  </a:lnTo>
                  <a:lnTo>
                    <a:pt x="2620797" y="491540"/>
                  </a:lnTo>
                  <a:lnTo>
                    <a:pt x="2664485" y="466318"/>
                  </a:lnTo>
                  <a:lnTo>
                    <a:pt x="2702407" y="433057"/>
                  </a:lnTo>
                  <a:lnTo>
                    <a:pt x="2733116" y="393039"/>
                  </a:lnTo>
                  <a:lnTo>
                    <a:pt x="2755430" y="347789"/>
                  </a:lnTo>
                  <a:lnTo>
                    <a:pt x="2765450" y="314312"/>
                  </a:lnTo>
                  <a:lnTo>
                    <a:pt x="5029200" y="314312"/>
                  </a:lnTo>
                  <a:lnTo>
                    <a:pt x="5029200" y="294182"/>
                  </a:lnTo>
                  <a:close/>
                </a:path>
              </a:pathLst>
            </a:custGeom>
            <a:solidFill>
              <a:srgbClr val="B78D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3041700" y="3848734"/>
            <a:ext cx="146050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>
                <a:latin typeface="Cambria"/>
                <a:cs typeface="Cambria"/>
              </a:rPr>
              <a:t>4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77875" y="4411662"/>
            <a:ext cx="429831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70">
                <a:solidFill>
                  <a:srgbClr val="44413F"/>
                </a:solidFill>
                <a:latin typeface="Cambria"/>
                <a:cs typeface="Cambria"/>
              </a:rPr>
              <a:t>Product</a:t>
            </a:r>
            <a:r>
              <a:rPr dirty="0" sz="1650" spc="15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45">
                <a:solidFill>
                  <a:srgbClr val="44413F"/>
                </a:solidFill>
                <a:latin typeface="Cambria"/>
                <a:cs typeface="Cambria"/>
              </a:rPr>
              <a:t>Positioning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70">
                <a:solidFill>
                  <a:srgbClr val="44413F"/>
                </a:solidFill>
                <a:latin typeface="Lucida Sans Unicode"/>
                <a:cs typeface="Lucida Sans Unicode"/>
              </a:rPr>
              <a:t>Highlight</a:t>
            </a:r>
            <a:r>
              <a:rPr dirty="0" sz="1350" spc="-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44413F"/>
                </a:solidFill>
                <a:latin typeface="Lucida Sans Unicode"/>
                <a:cs typeface="Lucida Sans Unicode"/>
              </a:rPr>
              <a:t>top-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rated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&amp;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44413F"/>
                </a:solidFill>
                <a:latin typeface="Lucida Sans Unicode"/>
                <a:cs typeface="Lucida Sans Unicode"/>
              </a:rPr>
              <a:t>best-</a:t>
            </a:r>
            <a:r>
              <a:rPr dirty="0" sz="1350" spc="-50">
                <a:solidFill>
                  <a:srgbClr val="44413F"/>
                </a:solidFill>
                <a:latin typeface="Lucida Sans Unicode"/>
                <a:cs typeface="Lucida Sans Unicode"/>
              </a:rPr>
              <a:t>selling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44413F"/>
                </a:solidFill>
                <a:latin typeface="Lucida Sans Unicode"/>
                <a:cs typeface="Lucida Sans Unicode"/>
              </a:rPr>
              <a:t>items</a:t>
            </a:r>
            <a:r>
              <a:rPr dirty="0" sz="1350" spc="-5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44413F"/>
                </a:solidFill>
                <a:latin typeface="Lucida Sans Unicode"/>
                <a:cs typeface="Lucida Sans Unicode"/>
              </a:rPr>
              <a:t>in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campaigns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5800724" y="3743325"/>
            <a:ext cx="5029200" cy="1800225"/>
            <a:chOff x="5800724" y="3743325"/>
            <a:chExt cx="5029200" cy="1800225"/>
          </a:xfrm>
        </p:grpSpPr>
        <p:sp>
          <p:nvSpPr>
            <p:cNvPr id="28" name="object 28" descr=""/>
            <p:cNvSpPr/>
            <p:nvPr/>
          </p:nvSpPr>
          <p:spPr>
            <a:xfrm>
              <a:off x="5810250" y="4000500"/>
              <a:ext cx="5010150" cy="1533525"/>
            </a:xfrm>
            <a:custGeom>
              <a:avLst/>
              <a:gdLst/>
              <a:ahLst/>
              <a:cxnLst/>
              <a:rect l="l" t="t" r="r" b="b"/>
              <a:pathLst>
                <a:path w="5010150" h="1533525">
                  <a:moveTo>
                    <a:pt x="4947856" y="0"/>
                  </a:moveTo>
                  <a:lnTo>
                    <a:pt x="62293" y="0"/>
                  </a:lnTo>
                  <a:lnTo>
                    <a:pt x="57962" y="482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483043"/>
                  </a:lnTo>
                  <a:lnTo>
                    <a:pt x="0" y="1486357"/>
                  </a:lnTo>
                  <a:lnTo>
                    <a:pt x="17132" y="1521079"/>
                  </a:lnTo>
                  <a:lnTo>
                    <a:pt x="47167" y="1533521"/>
                  </a:lnTo>
                  <a:lnTo>
                    <a:pt x="4962982" y="1533521"/>
                  </a:lnTo>
                  <a:lnTo>
                    <a:pt x="4997704" y="1516395"/>
                  </a:lnTo>
                  <a:lnTo>
                    <a:pt x="5010150" y="1486357"/>
                  </a:lnTo>
                  <a:lnTo>
                    <a:pt x="5010150" y="71196"/>
                  </a:lnTo>
                  <a:lnTo>
                    <a:pt x="4996484" y="29705"/>
                  </a:lnTo>
                  <a:lnTo>
                    <a:pt x="4964950" y="3886"/>
                  </a:lnTo>
                  <a:lnTo>
                    <a:pt x="4952187" y="482"/>
                  </a:lnTo>
                  <a:lnTo>
                    <a:pt x="4947856" y="0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800712" y="4001350"/>
              <a:ext cx="5029200" cy="1542415"/>
            </a:xfrm>
            <a:custGeom>
              <a:avLst/>
              <a:gdLst/>
              <a:ahLst/>
              <a:cxnLst/>
              <a:rect l="l" t="t" r="r" b="b"/>
              <a:pathLst>
                <a:path w="5029200" h="1542414">
                  <a:moveTo>
                    <a:pt x="5029200" y="75361"/>
                  </a:moveTo>
                  <a:lnTo>
                    <a:pt x="5016373" y="33020"/>
                  </a:lnTo>
                  <a:lnTo>
                    <a:pt x="4982159" y="4965"/>
                  </a:lnTo>
                  <a:lnTo>
                    <a:pt x="4963757" y="0"/>
                  </a:lnTo>
                  <a:lnTo>
                    <a:pt x="4967871" y="1092"/>
                  </a:lnTo>
                  <a:lnTo>
                    <a:pt x="4981867" y="8826"/>
                  </a:lnTo>
                  <a:lnTo>
                    <a:pt x="5005794" y="46202"/>
                  </a:lnTo>
                  <a:lnTo>
                    <a:pt x="5010150" y="75361"/>
                  </a:lnTo>
                  <a:lnTo>
                    <a:pt x="5010150" y="1482204"/>
                  </a:lnTo>
                  <a:lnTo>
                    <a:pt x="4997640" y="1511592"/>
                  </a:lnTo>
                  <a:lnTo>
                    <a:pt x="4991849" y="1516405"/>
                  </a:lnTo>
                  <a:lnTo>
                    <a:pt x="4984928" y="1520151"/>
                  </a:lnTo>
                  <a:lnTo>
                    <a:pt x="4977371" y="1522412"/>
                  </a:lnTo>
                  <a:lnTo>
                    <a:pt x="4969192" y="1523161"/>
                  </a:lnTo>
                  <a:lnTo>
                    <a:pt x="60007" y="1523161"/>
                  </a:lnTo>
                  <a:lnTo>
                    <a:pt x="31064" y="1511160"/>
                  </a:lnTo>
                  <a:lnTo>
                    <a:pt x="25806" y="1504848"/>
                  </a:lnTo>
                  <a:lnTo>
                    <a:pt x="22059" y="1497914"/>
                  </a:lnTo>
                  <a:lnTo>
                    <a:pt x="19812" y="1490370"/>
                  </a:lnTo>
                  <a:lnTo>
                    <a:pt x="19050" y="1482204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490154"/>
                  </a:lnTo>
                  <a:lnTo>
                    <a:pt x="1524" y="1497812"/>
                  </a:lnTo>
                  <a:lnTo>
                    <a:pt x="7607" y="1512506"/>
                  </a:lnTo>
                  <a:lnTo>
                    <a:pt x="11950" y="1518996"/>
                  </a:lnTo>
                  <a:lnTo>
                    <a:pt x="17589" y="1524635"/>
                  </a:lnTo>
                  <a:lnTo>
                    <a:pt x="23202" y="1530261"/>
                  </a:lnTo>
                  <a:lnTo>
                    <a:pt x="29692" y="1534591"/>
                  </a:lnTo>
                  <a:lnTo>
                    <a:pt x="44399" y="1540675"/>
                  </a:lnTo>
                  <a:lnTo>
                    <a:pt x="52044" y="1542211"/>
                  </a:lnTo>
                  <a:lnTo>
                    <a:pt x="4977155" y="1542211"/>
                  </a:lnTo>
                  <a:lnTo>
                    <a:pt x="4984801" y="1540675"/>
                  </a:lnTo>
                  <a:lnTo>
                    <a:pt x="4999507" y="1534591"/>
                  </a:lnTo>
                  <a:lnTo>
                    <a:pt x="5005997" y="1530261"/>
                  </a:lnTo>
                  <a:lnTo>
                    <a:pt x="5011153" y="1525104"/>
                  </a:lnTo>
                  <a:lnTo>
                    <a:pt x="5011623" y="1524635"/>
                  </a:lnTo>
                  <a:lnTo>
                    <a:pt x="5017249" y="1518996"/>
                  </a:lnTo>
                  <a:lnTo>
                    <a:pt x="5021580" y="1512506"/>
                  </a:lnTo>
                  <a:lnTo>
                    <a:pt x="5027638" y="1497914"/>
                  </a:lnTo>
                  <a:lnTo>
                    <a:pt x="5029162" y="1490370"/>
                  </a:lnTo>
                  <a:lnTo>
                    <a:pt x="5029200" y="75361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800725" y="3743337"/>
              <a:ext cx="5029200" cy="514350"/>
            </a:xfrm>
            <a:custGeom>
              <a:avLst/>
              <a:gdLst/>
              <a:ahLst/>
              <a:cxnLst/>
              <a:rect l="l" t="t" r="r" b="b"/>
              <a:pathLst>
                <a:path w="5029200" h="514350">
                  <a:moveTo>
                    <a:pt x="5029200" y="294182"/>
                  </a:moveTo>
                  <a:lnTo>
                    <a:pt x="5014417" y="258470"/>
                  </a:lnTo>
                  <a:lnTo>
                    <a:pt x="4977041" y="238493"/>
                  </a:lnTo>
                  <a:lnTo>
                    <a:pt x="4973129" y="238112"/>
                  </a:lnTo>
                  <a:lnTo>
                    <a:pt x="2771140" y="238112"/>
                  </a:lnTo>
                  <a:lnTo>
                    <a:pt x="2769717" y="223570"/>
                  </a:lnTo>
                  <a:lnTo>
                    <a:pt x="2758262" y="174447"/>
                  </a:lnTo>
                  <a:lnTo>
                    <a:pt x="2737434" y="128498"/>
                  </a:lnTo>
                  <a:lnTo>
                    <a:pt x="2708059" y="87503"/>
                  </a:lnTo>
                  <a:lnTo>
                    <a:pt x="2671241" y="53022"/>
                  </a:lnTo>
                  <a:lnTo>
                    <a:pt x="2628404" y="26390"/>
                  </a:lnTo>
                  <a:lnTo>
                    <a:pt x="2581198" y="8610"/>
                  </a:lnTo>
                  <a:lnTo>
                    <a:pt x="2531427" y="393"/>
                  </a:lnTo>
                  <a:lnTo>
                    <a:pt x="2523020" y="0"/>
                  </a:lnTo>
                  <a:lnTo>
                    <a:pt x="2506180" y="0"/>
                  </a:lnTo>
                  <a:lnTo>
                    <a:pt x="2456167" y="6565"/>
                  </a:lnTo>
                  <a:lnTo>
                    <a:pt x="2408402" y="22783"/>
                  </a:lnTo>
                  <a:lnTo>
                    <a:pt x="2364714" y="48006"/>
                  </a:lnTo>
                  <a:lnTo>
                    <a:pt x="2326792" y="81280"/>
                  </a:lnTo>
                  <a:lnTo>
                    <a:pt x="2296083" y="121285"/>
                  </a:lnTo>
                  <a:lnTo>
                    <a:pt x="2273782" y="166522"/>
                  </a:lnTo>
                  <a:lnTo>
                    <a:pt x="2260727" y="215252"/>
                  </a:lnTo>
                  <a:lnTo>
                    <a:pt x="2258047" y="238112"/>
                  </a:lnTo>
                  <a:lnTo>
                    <a:pt x="56057" y="238112"/>
                  </a:lnTo>
                  <a:lnTo>
                    <a:pt x="20358" y="252907"/>
                  </a:lnTo>
                  <a:lnTo>
                    <a:pt x="381" y="290271"/>
                  </a:lnTo>
                  <a:lnTo>
                    <a:pt x="0" y="294182"/>
                  </a:lnTo>
                  <a:lnTo>
                    <a:pt x="0" y="314312"/>
                  </a:lnTo>
                  <a:lnTo>
                    <a:pt x="2263737" y="314312"/>
                  </a:lnTo>
                  <a:lnTo>
                    <a:pt x="2264003" y="315595"/>
                  </a:lnTo>
                  <a:lnTo>
                    <a:pt x="2280221" y="363359"/>
                  </a:lnTo>
                  <a:lnTo>
                    <a:pt x="2305443" y="407047"/>
                  </a:lnTo>
                  <a:lnTo>
                    <a:pt x="2338705" y="444969"/>
                  </a:lnTo>
                  <a:lnTo>
                    <a:pt x="2378722" y="475678"/>
                  </a:lnTo>
                  <a:lnTo>
                    <a:pt x="2423960" y="497979"/>
                  </a:lnTo>
                  <a:lnTo>
                    <a:pt x="2472690" y="511035"/>
                  </a:lnTo>
                  <a:lnTo>
                    <a:pt x="2506180" y="514337"/>
                  </a:lnTo>
                  <a:lnTo>
                    <a:pt x="2523020" y="514337"/>
                  </a:lnTo>
                  <a:lnTo>
                    <a:pt x="2573032" y="507746"/>
                  </a:lnTo>
                  <a:lnTo>
                    <a:pt x="2620797" y="491540"/>
                  </a:lnTo>
                  <a:lnTo>
                    <a:pt x="2664485" y="466318"/>
                  </a:lnTo>
                  <a:lnTo>
                    <a:pt x="2702407" y="433057"/>
                  </a:lnTo>
                  <a:lnTo>
                    <a:pt x="2733116" y="393039"/>
                  </a:lnTo>
                  <a:lnTo>
                    <a:pt x="2755430" y="347789"/>
                  </a:lnTo>
                  <a:lnTo>
                    <a:pt x="2765450" y="314312"/>
                  </a:lnTo>
                  <a:lnTo>
                    <a:pt x="5029200" y="314312"/>
                  </a:lnTo>
                  <a:lnTo>
                    <a:pt x="5029200" y="294182"/>
                  </a:lnTo>
                  <a:close/>
                </a:path>
              </a:pathLst>
            </a:custGeom>
            <a:solidFill>
              <a:srgbClr val="B78D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8244141" y="3848734"/>
            <a:ext cx="142875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-50">
                <a:latin typeface="Cambria"/>
                <a:cs typeface="Cambria"/>
              </a:rPr>
              <a:t>5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978525" y="4411662"/>
            <a:ext cx="437197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50">
                <a:solidFill>
                  <a:srgbClr val="44413F"/>
                </a:solidFill>
                <a:latin typeface="Cambria"/>
                <a:cs typeface="Cambria"/>
              </a:rPr>
              <a:t>Targeted</a:t>
            </a:r>
            <a:r>
              <a:rPr dirty="0" sz="1650" spc="15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65">
                <a:solidFill>
                  <a:srgbClr val="44413F"/>
                </a:solidFill>
                <a:latin typeface="Cambria"/>
                <a:cs typeface="Cambria"/>
              </a:rPr>
              <a:t>Marketing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Focus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44413F"/>
                </a:solidFill>
                <a:latin typeface="Lucida Sans Unicode"/>
                <a:cs typeface="Lucida Sans Unicode"/>
              </a:rPr>
              <a:t>on</a:t>
            </a:r>
            <a:r>
              <a:rPr dirty="0" sz="1350" spc="-3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44413F"/>
                </a:solidFill>
                <a:latin typeface="Lucida Sans Unicode"/>
                <a:cs typeface="Lucida Sans Unicode"/>
              </a:rPr>
              <a:t>high-</a:t>
            </a:r>
            <a:r>
              <a:rPr dirty="0" sz="1350" spc="-35">
                <a:solidFill>
                  <a:srgbClr val="44413F"/>
                </a:solidFill>
                <a:latin typeface="Lucida Sans Unicode"/>
                <a:cs typeface="Lucida Sans Unicode"/>
              </a:rPr>
              <a:t>revenue </a:t>
            </a:r>
            <a:r>
              <a:rPr dirty="0" sz="1350" spc="-50">
                <a:solidFill>
                  <a:srgbClr val="44413F"/>
                </a:solidFill>
                <a:latin typeface="Lucida Sans Unicode"/>
                <a:cs typeface="Lucida Sans Unicode"/>
              </a:rPr>
              <a:t>age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44413F"/>
                </a:solidFill>
                <a:latin typeface="Lucida Sans Unicode"/>
                <a:cs typeface="Lucida Sans Unicode"/>
              </a:rPr>
              <a:t>groups</a:t>
            </a:r>
            <a:r>
              <a:rPr dirty="0" sz="1350" spc="-3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&amp;</a:t>
            </a:r>
            <a:r>
              <a:rPr dirty="0" sz="1350" spc="-3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0">
                <a:solidFill>
                  <a:srgbClr val="44413F"/>
                </a:solidFill>
                <a:latin typeface="Lucida Sans Unicode"/>
                <a:cs typeface="Lucida Sans Unicode"/>
              </a:rPr>
              <a:t>express-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shipping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users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33" name="object 33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1530350"/>
            <a:ext cx="3272154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375"/>
              <a:t>Key</a:t>
            </a:r>
            <a:r>
              <a:rPr dirty="0" spc="35"/>
              <a:t> </a:t>
            </a:r>
            <a:r>
              <a:rPr dirty="0" spc="220"/>
              <a:t>Takeaways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600075" y="2343149"/>
            <a:ext cx="5943600" cy="2543175"/>
            <a:chOff x="600075" y="2343149"/>
            <a:chExt cx="5943600" cy="2543175"/>
          </a:xfrm>
        </p:grpSpPr>
        <p:sp>
          <p:nvSpPr>
            <p:cNvPr id="7" name="object 7" descr=""/>
            <p:cNvSpPr/>
            <p:nvPr/>
          </p:nvSpPr>
          <p:spPr>
            <a:xfrm>
              <a:off x="604837" y="2347912"/>
              <a:ext cx="5934075" cy="2533650"/>
            </a:xfrm>
            <a:custGeom>
              <a:avLst/>
              <a:gdLst/>
              <a:ahLst/>
              <a:cxnLst/>
              <a:rect l="l" t="t" r="r" b="b"/>
              <a:pathLst>
                <a:path w="5934075" h="2533650">
                  <a:moveTo>
                    <a:pt x="588246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2478405"/>
                  </a:lnTo>
                  <a:lnTo>
                    <a:pt x="0" y="2482037"/>
                  </a:lnTo>
                  <a:lnTo>
                    <a:pt x="18747" y="2520035"/>
                  </a:lnTo>
                  <a:lnTo>
                    <a:pt x="51619" y="2533650"/>
                  </a:lnTo>
                  <a:lnTo>
                    <a:pt x="5882462" y="2533650"/>
                  </a:lnTo>
                  <a:lnTo>
                    <a:pt x="5920460" y="2514904"/>
                  </a:lnTo>
                  <a:lnTo>
                    <a:pt x="5934075" y="2482037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04837" y="2347912"/>
              <a:ext cx="5934075" cy="2533650"/>
            </a:xfrm>
            <a:custGeom>
              <a:avLst/>
              <a:gdLst/>
              <a:ahLst/>
              <a:cxnLst/>
              <a:rect l="l" t="t" r="r" b="b"/>
              <a:pathLst>
                <a:path w="5934075" h="2533650">
                  <a:moveTo>
                    <a:pt x="0" y="247840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59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2478405"/>
                  </a:lnTo>
                  <a:lnTo>
                    <a:pt x="5934075" y="2482037"/>
                  </a:lnTo>
                  <a:lnTo>
                    <a:pt x="5933719" y="2485618"/>
                  </a:lnTo>
                  <a:lnTo>
                    <a:pt x="5933008" y="2489187"/>
                  </a:lnTo>
                  <a:lnTo>
                    <a:pt x="5932309" y="2492743"/>
                  </a:lnTo>
                  <a:lnTo>
                    <a:pt x="5917895" y="2517470"/>
                  </a:lnTo>
                  <a:lnTo>
                    <a:pt x="5915329" y="2520035"/>
                  </a:lnTo>
                  <a:lnTo>
                    <a:pt x="5889599" y="2532583"/>
                  </a:lnTo>
                  <a:lnTo>
                    <a:pt x="5886043" y="2533294"/>
                  </a:lnTo>
                  <a:lnTo>
                    <a:pt x="5882462" y="2533650"/>
                  </a:lnTo>
                  <a:lnTo>
                    <a:pt x="5878830" y="2533650"/>
                  </a:lnTo>
                  <a:lnTo>
                    <a:pt x="55245" y="2533650"/>
                  </a:lnTo>
                  <a:lnTo>
                    <a:pt x="51619" y="2533650"/>
                  </a:lnTo>
                  <a:lnTo>
                    <a:pt x="48026" y="2533294"/>
                  </a:lnTo>
                  <a:lnTo>
                    <a:pt x="44465" y="2532583"/>
                  </a:lnTo>
                  <a:lnTo>
                    <a:pt x="40907" y="2531884"/>
                  </a:lnTo>
                  <a:lnTo>
                    <a:pt x="9311" y="2509088"/>
                  </a:lnTo>
                  <a:lnTo>
                    <a:pt x="7292" y="2506078"/>
                  </a:lnTo>
                  <a:lnTo>
                    <a:pt x="5590" y="2502903"/>
                  </a:lnTo>
                  <a:lnTo>
                    <a:pt x="4207" y="2499550"/>
                  </a:lnTo>
                  <a:lnTo>
                    <a:pt x="2818" y="2496197"/>
                  </a:lnTo>
                  <a:lnTo>
                    <a:pt x="1771" y="2492743"/>
                  </a:lnTo>
                  <a:lnTo>
                    <a:pt x="1061" y="2489187"/>
                  </a:lnTo>
                  <a:lnTo>
                    <a:pt x="351" y="2485618"/>
                  </a:lnTo>
                  <a:lnTo>
                    <a:pt x="0" y="2482037"/>
                  </a:lnTo>
                  <a:lnTo>
                    <a:pt x="0" y="2478405"/>
                  </a:lnTo>
                  <a:close/>
                </a:path>
              </a:pathLst>
            </a:custGeom>
            <a:ln w="9525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09600" y="2352674"/>
              <a:ext cx="2962275" cy="1533525"/>
            </a:xfrm>
            <a:custGeom>
              <a:avLst/>
              <a:gdLst/>
              <a:ahLst/>
              <a:cxnLst/>
              <a:rect l="l" t="t" r="r" b="b"/>
              <a:pathLst>
                <a:path w="2962275" h="1533525">
                  <a:moveTo>
                    <a:pt x="2962275" y="0"/>
                  </a:moveTo>
                  <a:lnTo>
                    <a:pt x="56067" y="0"/>
                  </a:lnTo>
                  <a:lnTo>
                    <a:pt x="52163" y="381"/>
                  </a:lnTo>
                  <a:lnTo>
                    <a:pt x="14789" y="20358"/>
                  </a:lnTo>
                  <a:lnTo>
                    <a:pt x="0" y="56070"/>
                  </a:lnTo>
                  <a:lnTo>
                    <a:pt x="0" y="1533525"/>
                  </a:lnTo>
                  <a:lnTo>
                    <a:pt x="2962275" y="1533525"/>
                  </a:lnTo>
                  <a:lnTo>
                    <a:pt x="2962275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768350" y="2506662"/>
            <a:ext cx="256730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95">
                <a:solidFill>
                  <a:srgbClr val="44413F"/>
                </a:solidFill>
                <a:latin typeface="Cambria"/>
                <a:cs typeface="Cambria"/>
              </a:rPr>
              <a:t>3,900</a:t>
            </a:r>
            <a:r>
              <a:rPr dirty="0" sz="1650" spc="8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35">
                <a:solidFill>
                  <a:srgbClr val="44413F"/>
                </a:solidFill>
                <a:latin typeface="Cambria"/>
                <a:cs typeface="Cambria"/>
              </a:rPr>
              <a:t>Transactions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Cleaned,</a:t>
            </a:r>
            <a:r>
              <a:rPr dirty="0" sz="1350" spc="-35">
                <a:solidFill>
                  <a:srgbClr val="44413F"/>
                </a:solidFill>
                <a:latin typeface="Lucida Sans Unicode"/>
                <a:cs typeface="Lucida Sans Unicode"/>
              </a:rPr>
              <a:t> engineered</a:t>
            </a:r>
            <a:r>
              <a:rPr dirty="0" sz="1350" spc="-3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&amp;</a:t>
            </a:r>
            <a:r>
              <a:rPr dirty="0" sz="1350" spc="-3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44413F"/>
                </a:solidFill>
                <a:latin typeface="Lucida Sans Unicode"/>
                <a:cs typeface="Lucida Sans Unicode"/>
              </a:rPr>
              <a:t>analyzed 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end-</a:t>
            </a:r>
            <a:r>
              <a:rPr dirty="0" sz="1350" spc="-35">
                <a:solidFill>
                  <a:srgbClr val="44413F"/>
                </a:solidFill>
                <a:latin typeface="Lucida Sans Unicode"/>
                <a:cs typeface="Lucida Sans Unicode"/>
              </a:rPr>
              <a:t>to-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end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571875" y="2352674"/>
            <a:ext cx="2962275" cy="1533525"/>
            <a:chOff x="3571875" y="2352674"/>
            <a:chExt cx="2962275" cy="1533525"/>
          </a:xfrm>
        </p:grpSpPr>
        <p:sp>
          <p:nvSpPr>
            <p:cNvPr id="12" name="object 12" descr=""/>
            <p:cNvSpPr/>
            <p:nvPr/>
          </p:nvSpPr>
          <p:spPr>
            <a:xfrm>
              <a:off x="3571875" y="2352674"/>
              <a:ext cx="2962275" cy="1533525"/>
            </a:xfrm>
            <a:custGeom>
              <a:avLst/>
              <a:gdLst/>
              <a:ahLst/>
              <a:cxnLst/>
              <a:rect l="l" t="t" r="r" b="b"/>
              <a:pathLst>
                <a:path w="2962275" h="1533525">
                  <a:moveTo>
                    <a:pt x="2906204" y="0"/>
                  </a:moveTo>
                  <a:lnTo>
                    <a:pt x="0" y="0"/>
                  </a:lnTo>
                  <a:lnTo>
                    <a:pt x="0" y="1533525"/>
                  </a:lnTo>
                  <a:lnTo>
                    <a:pt x="2962275" y="1533525"/>
                  </a:lnTo>
                  <a:lnTo>
                    <a:pt x="2962275" y="56070"/>
                  </a:lnTo>
                  <a:lnTo>
                    <a:pt x="2947492" y="20358"/>
                  </a:lnTo>
                  <a:lnTo>
                    <a:pt x="2910116" y="381"/>
                  </a:lnTo>
                  <a:lnTo>
                    <a:pt x="2906204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571875" y="2352674"/>
              <a:ext cx="19050" cy="1533525"/>
            </a:xfrm>
            <a:custGeom>
              <a:avLst/>
              <a:gdLst/>
              <a:ahLst/>
              <a:cxnLst/>
              <a:rect l="l" t="t" r="r" b="b"/>
              <a:pathLst>
                <a:path w="19050" h="1533525">
                  <a:moveTo>
                    <a:pt x="121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1524000"/>
                  </a:lnTo>
                  <a:lnTo>
                    <a:pt x="0" y="1526628"/>
                  </a:lnTo>
                  <a:lnTo>
                    <a:pt x="927" y="1528876"/>
                  </a:lnTo>
                  <a:lnTo>
                    <a:pt x="4648" y="1532597"/>
                  </a:lnTo>
                  <a:lnTo>
                    <a:pt x="6896" y="1533525"/>
                  </a:lnTo>
                  <a:lnTo>
                    <a:pt x="12153" y="1533525"/>
                  </a:lnTo>
                  <a:lnTo>
                    <a:pt x="14401" y="1532597"/>
                  </a:lnTo>
                  <a:lnTo>
                    <a:pt x="18122" y="1528876"/>
                  </a:lnTo>
                  <a:lnTo>
                    <a:pt x="19050" y="1526628"/>
                  </a:lnTo>
                  <a:lnTo>
                    <a:pt x="19050" y="6896"/>
                  </a:ln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3730625" y="2487612"/>
            <a:ext cx="2476500" cy="11887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90"/>
              </a:spcBef>
            </a:pPr>
            <a:r>
              <a:rPr dirty="0" sz="1650" spc="200">
                <a:solidFill>
                  <a:srgbClr val="44413F"/>
                </a:solidFill>
                <a:latin typeface="Cambria"/>
                <a:cs typeface="Cambria"/>
              </a:rPr>
              <a:t>Python</a:t>
            </a:r>
            <a:r>
              <a:rPr dirty="0" sz="1650" spc="13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44413F"/>
                </a:solidFill>
                <a:latin typeface="Cambria"/>
                <a:cs typeface="Cambria"/>
              </a:rPr>
              <a:t>+</a:t>
            </a:r>
            <a:r>
              <a:rPr dirty="0" sz="1650" spc="13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365">
                <a:solidFill>
                  <a:srgbClr val="44413F"/>
                </a:solidFill>
                <a:latin typeface="Cambria"/>
                <a:cs typeface="Cambria"/>
              </a:rPr>
              <a:t>SQL</a:t>
            </a:r>
            <a:r>
              <a:rPr dirty="0" sz="1650" spc="7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44413F"/>
                </a:solidFill>
                <a:latin typeface="Cambria"/>
                <a:cs typeface="Cambria"/>
              </a:rPr>
              <a:t>+</a:t>
            </a:r>
            <a:r>
              <a:rPr dirty="0" sz="1650" spc="13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30">
                <a:solidFill>
                  <a:srgbClr val="44413F"/>
                </a:solidFill>
                <a:latin typeface="Cambria"/>
                <a:cs typeface="Cambria"/>
              </a:rPr>
              <a:t>Power </a:t>
            </a:r>
            <a:r>
              <a:rPr dirty="0" sz="1650" spc="180">
                <a:solidFill>
                  <a:srgbClr val="44413F"/>
                </a:solidFill>
                <a:latin typeface="Cambria"/>
                <a:cs typeface="Cambria"/>
              </a:rPr>
              <a:t>BI</a:t>
            </a:r>
            <a:endParaRPr sz="1650">
              <a:latin typeface="Cambria"/>
              <a:cs typeface="Cambria"/>
            </a:endParaRPr>
          </a:p>
          <a:p>
            <a:pPr marL="12700" marR="8890">
              <a:lnSpc>
                <a:spcPct val="134300"/>
              </a:lnSpc>
              <a:spcBef>
                <a:spcPts val="465"/>
              </a:spcBef>
            </a:pPr>
            <a:r>
              <a:rPr dirty="0" sz="1350" spc="-65">
                <a:solidFill>
                  <a:srgbClr val="44413F"/>
                </a:solidFill>
                <a:latin typeface="Lucida Sans Unicode"/>
                <a:cs typeface="Lucida Sans Unicode"/>
              </a:rPr>
              <a:t>Full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analytics</a:t>
            </a:r>
            <a:r>
              <a:rPr dirty="0" sz="1350" spc="-6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44413F"/>
                </a:solidFill>
                <a:latin typeface="Lucida Sans Unicode"/>
                <a:cs typeface="Lucida Sans Unicode"/>
              </a:rPr>
              <a:t>pipeline</a:t>
            </a:r>
            <a:r>
              <a:rPr dirty="0" sz="1350" spc="-65">
                <a:solidFill>
                  <a:srgbClr val="44413F"/>
                </a:solidFill>
                <a:latin typeface="Lucida Sans Unicode"/>
                <a:cs typeface="Lucida Sans Unicode"/>
              </a:rPr>
              <a:t> from</a:t>
            </a:r>
            <a:r>
              <a:rPr dirty="0" sz="1350" spc="-6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raw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data</a:t>
            </a:r>
            <a:r>
              <a:rPr dirty="0" sz="1350" spc="-8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to</a:t>
            </a:r>
            <a:r>
              <a:rPr dirty="0" sz="1350" spc="-80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dashboard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09600" y="3886200"/>
            <a:ext cx="5924550" cy="990600"/>
            <a:chOff x="609600" y="3886200"/>
            <a:chExt cx="5924550" cy="990600"/>
          </a:xfrm>
        </p:grpSpPr>
        <p:sp>
          <p:nvSpPr>
            <p:cNvPr id="16" name="object 16" descr=""/>
            <p:cNvSpPr/>
            <p:nvPr/>
          </p:nvSpPr>
          <p:spPr>
            <a:xfrm>
              <a:off x="609600" y="3886200"/>
              <a:ext cx="5924550" cy="990600"/>
            </a:xfrm>
            <a:custGeom>
              <a:avLst/>
              <a:gdLst/>
              <a:ahLst/>
              <a:cxnLst/>
              <a:rect l="l" t="t" r="r" b="b"/>
              <a:pathLst>
                <a:path w="5924550" h="990600">
                  <a:moveTo>
                    <a:pt x="5924550" y="0"/>
                  </a:moveTo>
                  <a:lnTo>
                    <a:pt x="0" y="0"/>
                  </a:lnTo>
                  <a:lnTo>
                    <a:pt x="0" y="930592"/>
                  </a:lnTo>
                  <a:lnTo>
                    <a:pt x="0" y="934529"/>
                  </a:lnTo>
                  <a:lnTo>
                    <a:pt x="14789" y="970241"/>
                  </a:lnTo>
                  <a:lnTo>
                    <a:pt x="52163" y="990219"/>
                  </a:lnTo>
                  <a:lnTo>
                    <a:pt x="56067" y="990600"/>
                  </a:lnTo>
                  <a:lnTo>
                    <a:pt x="5868479" y="990600"/>
                  </a:lnTo>
                  <a:lnTo>
                    <a:pt x="5904179" y="975804"/>
                  </a:lnTo>
                  <a:lnTo>
                    <a:pt x="5924169" y="938428"/>
                  </a:lnTo>
                  <a:lnTo>
                    <a:pt x="5924550" y="934529"/>
                  </a:lnTo>
                  <a:lnTo>
                    <a:pt x="5924550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09600" y="3886200"/>
              <a:ext cx="5924550" cy="19050"/>
            </a:xfrm>
            <a:custGeom>
              <a:avLst/>
              <a:gdLst/>
              <a:ahLst/>
              <a:cxnLst/>
              <a:rect l="l" t="t" r="r" b="b"/>
              <a:pathLst>
                <a:path w="5924550" h="19050">
                  <a:moveTo>
                    <a:pt x="59176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17653" y="19050"/>
                  </a:lnTo>
                  <a:lnTo>
                    <a:pt x="5919901" y="18122"/>
                  </a:lnTo>
                  <a:lnTo>
                    <a:pt x="5923622" y="14401"/>
                  </a:lnTo>
                  <a:lnTo>
                    <a:pt x="5924550" y="12153"/>
                  </a:lnTo>
                  <a:lnTo>
                    <a:pt x="5924550" y="6896"/>
                  </a:lnTo>
                  <a:lnTo>
                    <a:pt x="5923622" y="4648"/>
                  </a:lnTo>
                  <a:lnTo>
                    <a:pt x="5919901" y="927"/>
                  </a:lnTo>
                  <a:lnTo>
                    <a:pt x="5917653" y="0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767922" y="4040187"/>
            <a:ext cx="3961129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65">
                <a:solidFill>
                  <a:srgbClr val="44413F"/>
                </a:solidFill>
                <a:latin typeface="Cambria"/>
                <a:cs typeface="Cambria"/>
              </a:rPr>
              <a:t>Actionable</a:t>
            </a:r>
            <a:r>
              <a:rPr dirty="0" sz="1650" spc="130">
                <a:solidFill>
                  <a:srgbClr val="44413F"/>
                </a:solidFill>
                <a:latin typeface="Cambria"/>
                <a:cs typeface="Cambria"/>
              </a:rPr>
              <a:t> Insights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>
                <a:solidFill>
                  <a:srgbClr val="44413F"/>
                </a:solidFill>
                <a:latin typeface="Lucida Sans Unicode"/>
                <a:cs typeface="Lucida Sans Unicode"/>
              </a:rPr>
              <a:t>5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Lucida Sans Unicode"/>
                <a:cs typeface="Lucida Sans Unicode"/>
              </a:rPr>
              <a:t>strategic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44413F"/>
                </a:solidFill>
                <a:latin typeface="Lucida Sans Unicode"/>
                <a:cs typeface="Lucida Sans Unicode"/>
              </a:rPr>
              <a:t>recommendations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ready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0">
                <a:solidFill>
                  <a:srgbClr val="44413F"/>
                </a:solidFill>
                <a:latin typeface="Lucida Sans Unicode"/>
                <a:cs typeface="Lucida Sans Unicode"/>
              </a:rPr>
              <a:t>for</a:t>
            </a:r>
            <a:r>
              <a:rPr dirty="0" sz="1350" spc="-45">
                <a:solidFill>
                  <a:srgbClr val="44413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Lucida Sans Unicode"/>
                <a:cs typeface="Lucida Sans Unicode"/>
              </a:rPr>
              <a:t>execution</a:t>
            </a:r>
            <a:endParaRPr sz="13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2026-04-18T19:57:58Z</dcterms:created>
  <dcterms:modified xsi:type="dcterms:W3CDTF">2026-04-18T19:57:58Z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2026-04-18T00:00:00Z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2026-04-18T00:00:00Z</vt:filetime>
  </property>
  <property fmtid="{D5CDD505-2E9C-101B-9397-08002B2CF9AE}" pid="5" name="Producer">
    <vt:lpwstr>GPL Ghostscript 9.56.1</vt:lpwstr>
  </property>
</Properties>
</file>